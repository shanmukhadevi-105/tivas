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Calibri" panose="020F0502020204030204" pitchFamily="34" charset="0"/>
      <p:regular r:id="rId14"/>
      <p:bold r:id="rId15"/>
      <p:italic r:id="rId16"/>
      <p:boldItalic r:id="rId17"/>
    </p:embeddedFont>
    <p:embeddedFont>
      <p:font typeface="Poppins Light" panose="020B0604020202020204" charset="0"/>
      <p:regular r:id="rId18"/>
    </p:embeddedFont>
    <p:embeddedFont>
      <p:font typeface="Roboto Light"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5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8" d="100"/>
          <a:sy n="68" d="100"/>
        </p:scale>
        <p:origin x="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4566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A4124-70D7-1F65-D31A-CA94908A2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94C4B-3E29-08F4-5851-94BADB4BEE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F1427-A6E7-1F8E-D6C2-5AC0C32159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A4B154-5A44-9119-818B-8174FD40A87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84580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jpeg"/><Relationship Id="rId4" Type="http://schemas.openxmlformats.org/officeDocument/2006/relationships/image" Target="../media/image6.pn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9"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svg"/><Relationship Id="rId10" Type="http://schemas.openxmlformats.org/officeDocument/2006/relationships/image" Target="../media/image3.jpeg"/><Relationship Id="rId4" Type="http://schemas.openxmlformats.org/officeDocument/2006/relationships/image" Target="../media/image26.png"/><Relationship Id="rId9" Type="http://schemas.openxmlformats.org/officeDocument/2006/relationships/image" Target="../media/image31.sv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3.jpeg"/><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18648"/>
            <a:ext cx="7965746" cy="2126337"/>
          </a:xfrm>
          <a:prstGeom prst="rect">
            <a:avLst/>
          </a:prstGeom>
          <a:noFill/>
          <a:ln/>
        </p:spPr>
        <p:txBody>
          <a:bodyPr wrap="square" lIns="0" tIns="0" rIns="0" bIns="0" rtlCol="0" anchor="t"/>
          <a:lstStyle/>
          <a:p>
            <a:pPr>
              <a:lnSpc>
                <a:spcPts val="5550"/>
              </a:lnSpc>
            </a:pPr>
            <a:r>
              <a:rPr lang="en-US" sz="4450" dirty="0">
                <a:solidFill>
                  <a:srgbClr val="F2F2F3"/>
                </a:solidFill>
                <a:latin typeface="Poppins Light" pitchFamily="34" charset="0"/>
                <a:ea typeface="Poppins Light" pitchFamily="34" charset="-122"/>
                <a:cs typeface="Poppins Light" pitchFamily="34" charset="-120"/>
              </a:rPr>
              <a:t>TIVAS - Threat Identification and Visual Alert System</a:t>
            </a:r>
            <a:endParaRPr lang="en-US" sz="4450" dirty="0"/>
          </a:p>
        </p:txBody>
      </p:sp>
      <p:sp>
        <p:nvSpPr>
          <p:cNvPr id="4" name="Text 1"/>
          <p:cNvSpPr/>
          <p:nvPr/>
        </p:nvSpPr>
        <p:spPr>
          <a:xfrm>
            <a:off x="6280190" y="4548729"/>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Transforming urban public safety through intelligent machine learning and predictive analytics</a:t>
            </a:r>
            <a:endParaRPr lang="en-US" sz="1750" dirty="0"/>
          </a:p>
        </p:txBody>
      </p:sp>
      <p:sp>
        <p:nvSpPr>
          <p:cNvPr id="5" name="Rectangle 4">
            <a:extLst>
              <a:ext uri="{FF2B5EF4-FFF2-40B4-BE49-F238E27FC236}">
                <a16:creationId xmlns:a16="http://schemas.microsoft.com/office/drawing/2014/main" id="{658285F5-67CD-A49C-904A-322767345253}"/>
              </a:ext>
            </a:extLst>
          </p:cNvPr>
          <p:cNvSpPr/>
          <p:nvPr/>
        </p:nvSpPr>
        <p:spPr>
          <a:xfrm>
            <a:off x="12708081" y="7512627"/>
            <a:ext cx="1839191" cy="613064"/>
          </a:xfrm>
          <a:prstGeom prst="rect">
            <a:avLst/>
          </a:prstGeom>
          <a:solidFill>
            <a:srgbClr val="050505"/>
          </a:solidFill>
          <a:ln>
            <a:solidFill>
              <a:srgbClr val="0505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2442A5E-9717-B850-50A0-33C11A3563ED}"/>
              </a:ext>
            </a:extLst>
          </p:cNvPr>
          <p:cNvSpPr txBox="1"/>
          <p:nvPr/>
        </p:nvSpPr>
        <p:spPr>
          <a:xfrm>
            <a:off x="6363158" y="5868851"/>
            <a:ext cx="3708387" cy="1015663"/>
          </a:xfrm>
          <a:prstGeom prst="rect">
            <a:avLst/>
          </a:prstGeom>
          <a:noFill/>
        </p:spPr>
        <p:txBody>
          <a:bodyPr wrap="none" rtlCol="0">
            <a:spAutoFit/>
          </a:bodyPr>
          <a:lstStyle/>
          <a:p>
            <a:r>
              <a:rPr lang="en-IN" sz="2000" dirty="0">
                <a:solidFill>
                  <a:schemeClr val="bg1"/>
                </a:solidFill>
              </a:rPr>
              <a:t>Team Members:</a:t>
            </a:r>
          </a:p>
          <a:p>
            <a:r>
              <a:rPr lang="en-IN" sz="2000" dirty="0" err="1">
                <a:solidFill>
                  <a:schemeClr val="bg1"/>
                </a:solidFill>
              </a:rPr>
              <a:t>Shanmukha</a:t>
            </a:r>
            <a:r>
              <a:rPr lang="en-IN" sz="2000" dirty="0">
                <a:solidFill>
                  <a:schemeClr val="bg1"/>
                </a:solidFill>
              </a:rPr>
              <a:t> Devi      - 2320030340</a:t>
            </a:r>
          </a:p>
          <a:p>
            <a:r>
              <a:rPr lang="en-IN" sz="2000" dirty="0">
                <a:solidFill>
                  <a:schemeClr val="bg1"/>
                </a:solidFill>
              </a:rPr>
              <a:t>Nandini Nagar           - 2320030397</a:t>
            </a:r>
          </a:p>
        </p:txBody>
      </p:sp>
      <p:sp>
        <p:nvSpPr>
          <p:cNvPr id="7" name="AutoShape 2">
            <a:extLst>
              <a:ext uri="{FF2B5EF4-FFF2-40B4-BE49-F238E27FC236}">
                <a16:creationId xmlns:a16="http://schemas.microsoft.com/office/drawing/2014/main" id="{31B5C1B0-4EC9-2679-F892-35559A567FB1}"/>
              </a:ext>
            </a:extLst>
          </p:cNvPr>
          <p:cNvSpPr>
            <a:spLocks noChangeAspect="1" noChangeArrowheads="1"/>
          </p:cNvSpPr>
          <p:nvPr/>
        </p:nvSpPr>
        <p:spPr bwMode="auto">
          <a:xfrm>
            <a:off x="12913457" y="395563"/>
            <a:ext cx="1277373" cy="127737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16851AB1-307A-21AA-E2DC-420FC074A6F9}"/>
              </a:ext>
            </a:extLst>
          </p:cNvPr>
          <p:cNvPicPr>
            <a:picLocks noChangeAspect="1"/>
          </p:cNvPicPr>
          <p:nvPr/>
        </p:nvPicPr>
        <p:blipFill>
          <a:blip r:embed="rId4"/>
          <a:stretch>
            <a:fillRect/>
          </a:stretch>
        </p:blipFill>
        <p:spPr>
          <a:xfrm>
            <a:off x="12804938" y="103909"/>
            <a:ext cx="1577395" cy="15690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19639"/>
            <a:ext cx="7816929"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The Urban Safety Challenge</a:t>
            </a:r>
            <a:endParaRPr lang="en-US" sz="4450" dirty="0"/>
          </a:p>
        </p:txBody>
      </p:sp>
      <p:pic>
        <p:nvPicPr>
          <p:cNvPr id="3" name="Image 0" descr="preencoded.png"/>
          <p:cNvPicPr>
            <a:picLocks noChangeAspect="1"/>
          </p:cNvPicPr>
          <p:nvPr/>
        </p:nvPicPr>
        <p:blipFill>
          <a:blip r:embed="rId3"/>
          <a:stretch>
            <a:fillRect/>
          </a:stretch>
        </p:blipFill>
        <p:spPr>
          <a:xfrm>
            <a:off x="793790" y="2327434"/>
            <a:ext cx="8284131" cy="4623673"/>
          </a:xfrm>
          <a:prstGeom prst="rect">
            <a:avLst/>
          </a:prstGeom>
        </p:spPr>
      </p:pic>
      <p:sp>
        <p:nvSpPr>
          <p:cNvPr id="4" name="Text 1"/>
          <p:cNvSpPr/>
          <p:nvPr/>
        </p:nvSpPr>
        <p:spPr>
          <a:xfrm>
            <a:off x="9638943" y="2195393"/>
            <a:ext cx="4205168" cy="850583"/>
          </a:xfrm>
          <a:prstGeom prst="rect">
            <a:avLst/>
          </a:prstGeom>
          <a:noFill/>
          <a:ln/>
        </p:spPr>
        <p:txBody>
          <a:bodyPr wrap="square" lIns="0" tIns="0" rIns="0" bIns="0" rtlCol="0" anchor="t"/>
          <a:lstStyle/>
          <a:p>
            <a:pPr marL="0" indent="0" algn="l">
              <a:lnSpc>
                <a:spcPts val="3300"/>
              </a:lnSpc>
              <a:buNone/>
            </a:pPr>
            <a:r>
              <a:rPr lang="en-US" sz="2650" dirty="0">
                <a:solidFill>
                  <a:srgbClr val="F2F2F3"/>
                </a:solidFill>
                <a:latin typeface="Poppins Light" pitchFamily="34" charset="0"/>
                <a:ea typeface="Poppins Light" pitchFamily="34" charset="-122"/>
                <a:cs typeface="Poppins Light" pitchFamily="34" charset="-120"/>
              </a:rPr>
              <a:t>Growing Urban Populations</a:t>
            </a:r>
            <a:endParaRPr lang="en-US" sz="2650" dirty="0"/>
          </a:p>
        </p:txBody>
      </p:sp>
      <p:sp>
        <p:nvSpPr>
          <p:cNvPr id="5" name="Text 2"/>
          <p:cNvSpPr/>
          <p:nvPr/>
        </p:nvSpPr>
        <p:spPr>
          <a:xfrm>
            <a:off x="9638943" y="3272790"/>
            <a:ext cx="4205168" cy="217741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As cities expand rapidly, ensuring public safety has become increasingly complex. Traditional crime analysis methods rely on static reports and historical records, making it difficult to anticipate future incidents and take preventive actions.</a:t>
            </a:r>
            <a:endParaRPr lang="en-US" sz="1750" dirty="0"/>
          </a:p>
        </p:txBody>
      </p:sp>
      <p:sp>
        <p:nvSpPr>
          <p:cNvPr id="6" name="Text 3"/>
          <p:cNvSpPr/>
          <p:nvPr/>
        </p:nvSpPr>
        <p:spPr>
          <a:xfrm>
            <a:off x="9638943" y="5654278"/>
            <a:ext cx="4205168" cy="1451610"/>
          </a:xfrm>
          <a:prstGeom prst="rect">
            <a:avLst/>
          </a:prstGeom>
          <a:noFill/>
          <a:ln/>
        </p:spPr>
        <p:txBody>
          <a:bodyPr wrap="square" lIns="0" tIns="0" rIns="0" bIns="0" rtlCol="0" anchor="t"/>
          <a:lstStyle/>
          <a:p>
            <a:pPr marL="0" indent="0" algn="l">
              <a:lnSpc>
                <a:spcPts val="2850"/>
              </a:lnSpc>
              <a:buNone/>
            </a:pPr>
            <a:r>
              <a:rPr lang="en-US" sz="1750" b="1" dirty="0">
                <a:solidFill>
                  <a:srgbClr val="E5E0DF"/>
                </a:solidFill>
                <a:latin typeface="Roboto Light" pitchFamily="34" charset="0"/>
                <a:ea typeface="Roboto Light" pitchFamily="34" charset="-122"/>
                <a:cs typeface="Roboto Light" pitchFamily="34" charset="-120"/>
              </a:rPr>
              <a:t>The result:</a:t>
            </a:r>
            <a:r>
              <a:rPr lang="en-US" sz="1750" dirty="0">
                <a:solidFill>
                  <a:srgbClr val="E5E0DF"/>
                </a:solidFill>
                <a:latin typeface="Roboto Light" pitchFamily="34" charset="0"/>
                <a:ea typeface="Roboto Light" pitchFamily="34" charset="-122"/>
                <a:cs typeface="Roboto Light" pitchFamily="34" charset="-120"/>
              </a:rPr>
              <a:t> Most crime management strategies remain reactive rather than proactive, responding to incidents after they occur rather than preventing them.</a:t>
            </a:r>
            <a:endParaRPr lang="en-US" sz="1750" dirty="0"/>
          </a:p>
        </p:txBody>
      </p:sp>
      <p:sp>
        <p:nvSpPr>
          <p:cNvPr id="7" name="Rectangle 6">
            <a:extLst>
              <a:ext uri="{FF2B5EF4-FFF2-40B4-BE49-F238E27FC236}">
                <a16:creationId xmlns:a16="http://schemas.microsoft.com/office/drawing/2014/main" id="{AD468314-784F-8EDE-465B-11A8905D4A08}"/>
              </a:ext>
            </a:extLst>
          </p:cNvPr>
          <p:cNvSpPr/>
          <p:nvPr/>
        </p:nvSpPr>
        <p:spPr>
          <a:xfrm>
            <a:off x="12708081" y="7512627"/>
            <a:ext cx="1839191" cy="613064"/>
          </a:xfrm>
          <a:prstGeom prst="rect">
            <a:avLst/>
          </a:prstGeom>
          <a:solidFill>
            <a:srgbClr val="050505"/>
          </a:solidFill>
          <a:ln>
            <a:solidFill>
              <a:srgbClr val="0505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EA2F82D-12DA-5438-0A77-806A3381CCE4}"/>
              </a:ext>
            </a:extLst>
          </p:cNvPr>
          <p:cNvPicPr>
            <a:picLocks noChangeAspect="1"/>
          </p:cNvPicPr>
          <p:nvPr/>
        </p:nvPicPr>
        <p:blipFill>
          <a:blip r:embed="rId4"/>
          <a:stretch>
            <a:fillRect/>
          </a:stretch>
        </p:blipFill>
        <p:spPr>
          <a:xfrm>
            <a:off x="12804938" y="103909"/>
            <a:ext cx="1577395" cy="15690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1481" y="1289566"/>
            <a:ext cx="6482239" cy="575905"/>
          </a:xfrm>
          <a:prstGeom prst="rect">
            <a:avLst/>
          </a:prstGeom>
          <a:noFill/>
          <a:ln/>
        </p:spPr>
        <p:txBody>
          <a:bodyPr wrap="none" lIns="0" tIns="0" rIns="0" bIns="0" rtlCol="0" anchor="t"/>
          <a:lstStyle/>
          <a:p>
            <a:pPr marL="0" indent="0" algn="l">
              <a:lnSpc>
                <a:spcPts val="4500"/>
              </a:lnSpc>
              <a:buNone/>
            </a:pPr>
            <a:r>
              <a:rPr lang="en-US" sz="3600" dirty="0">
                <a:solidFill>
                  <a:srgbClr val="F2F2F3"/>
                </a:solidFill>
                <a:latin typeface="Poppins Light" pitchFamily="34" charset="0"/>
                <a:ea typeface="Poppins Light" pitchFamily="34" charset="-122"/>
                <a:cs typeface="Poppins Light" pitchFamily="34" charset="-120"/>
              </a:rPr>
              <a:t>Intelligent Platform Overview</a:t>
            </a:r>
            <a:endParaRPr lang="en-US" sz="3600" dirty="0"/>
          </a:p>
        </p:txBody>
      </p:sp>
      <p:sp>
        <p:nvSpPr>
          <p:cNvPr id="4" name="Text 1"/>
          <p:cNvSpPr/>
          <p:nvPr/>
        </p:nvSpPr>
        <p:spPr>
          <a:xfrm>
            <a:off x="6131481" y="2090142"/>
            <a:ext cx="7853839" cy="801529"/>
          </a:xfrm>
          <a:prstGeom prst="rect">
            <a:avLst/>
          </a:prstGeom>
          <a:noFill/>
          <a:ln/>
        </p:spPr>
        <p:txBody>
          <a:bodyPr wrap="square" lIns="0" tIns="0" rIns="0" bIns="0" rtlCol="0" anchor="t"/>
          <a:lstStyle/>
          <a:p>
            <a:pPr marL="0" indent="0" algn="l">
              <a:lnSpc>
                <a:spcPts val="2100"/>
              </a:lnSpc>
              <a:buNone/>
            </a:pPr>
            <a:r>
              <a:rPr lang="en-US" sz="1450" dirty="0">
                <a:solidFill>
                  <a:srgbClr val="E5E0DF"/>
                </a:solidFill>
                <a:latin typeface="Roboto Light" pitchFamily="34" charset="0"/>
                <a:ea typeface="Roboto Light" pitchFamily="34" charset="-122"/>
                <a:cs typeface="Roboto Light" pitchFamily="34" charset="-120"/>
              </a:rPr>
              <a:t>An intelligent web-based platform that leverages machine learning and data analytics to analyze crime patterns and predict crime-prone areas. The system processes historical crime data including crime type, timing, location, and frequency to reveal actionable insights.</a:t>
            </a:r>
            <a:endParaRPr lang="en-US" sz="1450" dirty="0"/>
          </a:p>
        </p:txBody>
      </p:sp>
      <p:sp>
        <p:nvSpPr>
          <p:cNvPr id="5" name="Shape 2"/>
          <p:cNvSpPr/>
          <p:nvPr/>
        </p:nvSpPr>
        <p:spPr>
          <a:xfrm>
            <a:off x="6131481" y="3060144"/>
            <a:ext cx="3852029" cy="1998583"/>
          </a:xfrm>
          <a:prstGeom prst="roundRect">
            <a:avLst>
              <a:gd name="adj" fmla="val 3874"/>
            </a:avLst>
          </a:prstGeom>
          <a:solidFill>
            <a:srgbClr val="3D3D42"/>
          </a:solidFill>
          <a:ln w="7620">
            <a:solidFill>
              <a:srgbClr val="56565B"/>
            </a:solidFill>
            <a:prstDash val="solid"/>
          </a:ln>
        </p:spPr>
      </p:sp>
      <p:sp>
        <p:nvSpPr>
          <p:cNvPr id="6" name="Shape 3"/>
          <p:cNvSpPr/>
          <p:nvPr/>
        </p:nvSpPr>
        <p:spPr>
          <a:xfrm>
            <a:off x="6323409" y="3252073"/>
            <a:ext cx="552926" cy="552926"/>
          </a:xfrm>
          <a:prstGeom prst="roundRect">
            <a:avLst>
              <a:gd name="adj" fmla="val 16535821"/>
            </a:avLst>
          </a:prstGeom>
          <a:solidFill>
            <a:srgbClr val="F2F2F3"/>
          </a:solidFill>
          <a:ln/>
        </p:spPr>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75452" y="3404116"/>
            <a:ext cx="248841" cy="248841"/>
          </a:xfrm>
          <a:prstGeom prst="rect">
            <a:avLst/>
          </a:prstGeom>
        </p:spPr>
      </p:pic>
      <p:sp>
        <p:nvSpPr>
          <p:cNvPr id="8" name="Text 4"/>
          <p:cNvSpPr/>
          <p:nvPr/>
        </p:nvSpPr>
        <p:spPr>
          <a:xfrm>
            <a:off x="6323409" y="3954780"/>
            <a:ext cx="2304098" cy="287893"/>
          </a:xfrm>
          <a:prstGeom prst="rect">
            <a:avLst/>
          </a:prstGeom>
          <a:noFill/>
          <a:ln/>
        </p:spPr>
        <p:txBody>
          <a:bodyPr wrap="none" lIns="0" tIns="0" rIns="0" bIns="0" rtlCol="0" anchor="t"/>
          <a:lstStyle/>
          <a:p>
            <a:pPr marL="0" indent="0" algn="l">
              <a:lnSpc>
                <a:spcPts val="2250"/>
              </a:lnSpc>
              <a:buNone/>
            </a:pPr>
            <a:r>
              <a:rPr lang="en-US" sz="1800" dirty="0">
                <a:solidFill>
                  <a:srgbClr val="E5E0DF"/>
                </a:solidFill>
                <a:latin typeface="Poppins Light" pitchFamily="34" charset="0"/>
                <a:ea typeface="Poppins Light" pitchFamily="34" charset="-122"/>
                <a:cs typeface="Poppins Light" pitchFamily="34" charset="-120"/>
              </a:rPr>
              <a:t>Machine Learning</a:t>
            </a:r>
            <a:endParaRPr lang="en-US" sz="1800" dirty="0"/>
          </a:p>
        </p:txBody>
      </p:sp>
      <p:sp>
        <p:nvSpPr>
          <p:cNvPr id="9" name="Text 5"/>
          <p:cNvSpPr/>
          <p:nvPr/>
        </p:nvSpPr>
        <p:spPr>
          <a:xfrm>
            <a:off x="6323409" y="4332446"/>
            <a:ext cx="3468172" cy="534352"/>
          </a:xfrm>
          <a:prstGeom prst="rect">
            <a:avLst/>
          </a:prstGeom>
          <a:noFill/>
          <a:ln/>
        </p:spPr>
        <p:txBody>
          <a:bodyPr wrap="square" lIns="0" tIns="0" rIns="0" bIns="0" rtlCol="0" anchor="t"/>
          <a:lstStyle/>
          <a:p>
            <a:pPr marL="0" indent="0" algn="l">
              <a:lnSpc>
                <a:spcPts val="2100"/>
              </a:lnSpc>
              <a:buNone/>
            </a:pPr>
            <a:r>
              <a:rPr lang="en-US" sz="1450" dirty="0">
                <a:solidFill>
                  <a:srgbClr val="E5E0DF"/>
                </a:solidFill>
                <a:latin typeface="Roboto Light" pitchFamily="34" charset="0"/>
                <a:ea typeface="Roboto Light" pitchFamily="34" charset="-122"/>
                <a:cs typeface="Roboto Light" pitchFamily="34" charset="-120"/>
              </a:rPr>
              <a:t>Advanced algorithms that identify patterns and trends in crime data</a:t>
            </a:r>
            <a:endParaRPr lang="en-US" sz="1450" dirty="0"/>
          </a:p>
        </p:txBody>
      </p:sp>
      <p:sp>
        <p:nvSpPr>
          <p:cNvPr id="10" name="Shape 6"/>
          <p:cNvSpPr/>
          <p:nvPr/>
        </p:nvSpPr>
        <p:spPr>
          <a:xfrm>
            <a:off x="10133290" y="3060144"/>
            <a:ext cx="3852029" cy="1998583"/>
          </a:xfrm>
          <a:prstGeom prst="roundRect">
            <a:avLst>
              <a:gd name="adj" fmla="val 3874"/>
            </a:avLst>
          </a:prstGeom>
          <a:solidFill>
            <a:srgbClr val="3D3D42"/>
          </a:solidFill>
          <a:ln w="7620">
            <a:solidFill>
              <a:srgbClr val="56565B"/>
            </a:solidFill>
            <a:prstDash val="solid"/>
          </a:ln>
        </p:spPr>
      </p:sp>
      <p:sp>
        <p:nvSpPr>
          <p:cNvPr id="11" name="Shape 7"/>
          <p:cNvSpPr/>
          <p:nvPr/>
        </p:nvSpPr>
        <p:spPr>
          <a:xfrm>
            <a:off x="10325219" y="3252073"/>
            <a:ext cx="552926" cy="552926"/>
          </a:xfrm>
          <a:prstGeom prst="roundRect">
            <a:avLst>
              <a:gd name="adj" fmla="val 16535821"/>
            </a:avLst>
          </a:prstGeom>
          <a:solidFill>
            <a:srgbClr val="F2F2F3"/>
          </a:solidFill>
          <a:ln/>
        </p:spPr>
      </p:sp>
      <p:pic>
        <p:nvPicPr>
          <p:cNvPr id="12"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77262" y="3404116"/>
            <a:ext cx="248841" cy="248841"/>
          </a:xfrm>
          <a:prstGeom prst="rect">
            <a:avLst/>
          </a:prstGeom>
        </p:spPr>
      </p:pic>
      <p:sp>
        <p:nvSpPr>
          <p:cNvPr id="13" name="Text 8"/>
          <p:cNvSpPr/>
          <p:nvPr/>
        </p:nvSpPr>
        <p:spPr>
          <a:xfrm>
            <a:off x="10325219" y="3954780"/>
            <a:ext cx="2304098" cy="287893"/>
          </a:xfrm>
          <a:prstGeom prst="rect">
            <a:avLst/>
          </a:prstGeom>
          <a:noFill/>
          <a:ln/>
        </p:spPr>
        <p:txBody>
          <a:bodyPr wrap="none" lIns="0" tIns="0" rIns="0" bIns="0" rtlCol="0" anchor="t"/>
          <a:lstStyle/>
          <a:p>
            <a:pPr marL="0" indent="0" algn="l">
              <a:lnSpc>
                <a:spcPts val="2250"/>
              </a:lnSpc>
              <a:buNone/>
            </a:pPr>
            <a:r>
              <a:rPr lang="en-US" sz="1800" dirty="0">
                <a:solidFill>
                  <a:srgbClr val="E5E0DF"/>
                </a:solidFill>
                <a:latin typeface="Poppins Light" pitchFamily="34" charset="0"/>
                <a:ea typeface="Poppins Light" pitchFamily="34" charset="-122"/>
                <a:cs typeface="Poppins Light" pitchFamily="34" charset="-120"/>
              </a:rPr>
              <a:t>Data Analytics</a:t>
            </a:r>
            <a:endParaRPr lang="en-US" sz="1800" dirty="0"/>
          </a:p>
        </p:txBody>
      </p:sp>
      <p:sp>
        <p:nvSpPr>
          <p:cNvPr id="14" name="Text 9"/>
          <p:cNvSpPr/>
          <p:nvPr/>
        </p:nvSpPr>
        <p:spPr>
          <a:xfrm>
            <a:off x="10325219" y="4332446"/>
            <a:ext cx="3468172" cy="534352"/>
          </a:xfrm>
          <a:prstGeom prst="rect">
            <a:avLst/>
          </a:prstGeom>
          <a:noFill/>
          <a:ln/>
        </p:spPr>
        <p:txBody>
          <a:bodyPr wrap="square" lIns="0" tIns="0" rIns="0" bIns="0" rtlCol="0" anchor="t"/>
          <a:lstStyle/>
          <a:p>
            <a:pPr marL="0" indent="0" algn="l">
              <a:lnSpc>
                <a:spcPts val="2100"/>
              </a:lnSpc>
              <a:buNone/>
            </a:pPr>
            <a:r>
              <a:rPr lang="en-US" sz="1450" dirty="0">
                <a:solidFill>
                  <a:srgbClr val="E5E0DF"/>
                </a:solidFill>
                <a:latin typeface="Roboto Light" pitchFamily="34" charset="0"/>
                <a:ea typeface="Roboto Light" pitchFamily="34" charset="-122"/>
                <a:cs typeface="Roboto Light" pitchFamily="34" charset="-120"/>
              </a:rPr>
              <a:t>Comprehensive analysis of historical crime records and frequencies</a:t>
            </a:r>
            <a:endParaRPr lang="en-US" sz="1450" dirty="0"/>
          </a:p>
        </p:txBody>
      </p:sp>
      <p:sp>
        <p:nvSpPr>
          <p:cNvPr id="15" name="Shape 10"/>
          <p:cNvSpPr/>
          <p:nvPr/>
        </p:nvSpPr>
        <p:spPr>
          <a:xfrm>
            <a:off x="6131481" y="5208508"/>
            <a:ext cx="7853839" cy="1731407"/>
          </a:xfrm>
          <a:prstGeom prst="roundRect">
            <a:avLst>
              <a:gd name="adj" fmla="val 4471"/>
            </a:avLst>
          </a:prstGeom>
          <a:solidFill>
            <a:srgbClr val="3D3D42"/>
          </a:solidFill>
          <a:ln w="7620">
            <a:solidFill>
              <a:srgbClr val="56565B"/>
            </a:solidFill>
            <a:prstDash val="solid"/>
          </a:ln>
        </p:spPr>
      </p:sp>
      <p:sp>
        <p:nvSpPr>
          <p:cNvPr id="16" name="Shape 11"/>
          <p:cNvSpPr/>
          <p:nvPr/>
        </p:nvSpPr>
        <p:spPr>
          <a:xfrm>
            <a:off x="6323409" y="5400437"/>
            <a:ext cx="552926" cy="552926"/>
          </a:xfrm>
          <a:prstGeom prst="roundRect">
            <a:avLst>
              <a:gd name="adj" fmla="val 16535821"/>
            </a:avLst>
          </a:prstGeom>
          <a:solidFill>
            <a:srgbClr val="F2F2F3"/>
          </a:solidFill>
          <a:ln/>
        </p:spPr>
      </p:sp>
      <p:pic>
        <p:nvPicPr>
          <p:cNvPr id="17"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75452" y="5552480"/>
            <a:ext cx="248841" cy="248841"/>
          </a:xfrm>
          <a:prstGeom prst="rect">
            <a:avLst/>
          </a:prstGeom>
        </p:spPr>
      </p:pic>
      <p:sp>
        <p:nvSpPr>
          <p:cNvPr id="18" name="Text 12"/>
          <p:cNvSpPr/>
          <p:nvPr/>
        </p:nvSpPr>
        <p:spPr>
          <a:xfrm>
            <a:off x="6323409" y="6103144"/>
            <a:ext cx="2304098" cy="287893"/>
          </a:xfrm>
          <a:prstGeom prst="rect">
            <a:avLst/>
          </a:prstGeom>
          <a:noFill/>
          <a:ln/>
        </p:spPr>
        <p:txBody>
          <a:bodyPr wrap="none" lIns="0" tIns="0" rIns="0" bIns="0" rtlCol="0" anchor="t"/>
          <a:lstStyle/>
          <a:p>
            <a:pPr marL="0" indent="0" algn="l">
              <a:lnSpc>
                <a:spcPts val="2250"/>
              </a:lnSpc>
              <a:buNone/>
            </a:pPr>
            <a:r>
              <a:rPr lang="en-US" sz="1800" dirty="0">
                <a:solidFill>
                  <a:srgbClr val="E5E0DF"/>
                </a:solidFill>
                <a:latin typeface="Poppins Light" pitchFamily="34" charset="0"/>
                <a:ea typeface="Poppins Light" pitchFamily="34" charset="-122"/>
                <a:cs typeface="Poppins Light" pitchFamily="34" charset="-120"/>
              </a:rPr>
              <a:t>Predictive Power</a:t>
            </a:r>
            <a:endParaRPr lang="en-US" sz="1800" dirty="0"/>
          </a:p>
        </p:txBody>
      </p:sp>
      <p:sp>
        <p:nvSpPr>
          <p:cNvPr id="19" name="Text 13"/>
          <p:cNvSpPr/>
          <p:nvPr/>
        </p:nvSpPr>
        <p:spPr>
          <a:xfrm>
            <a:off x="6323409" y="6480810"/>
            <a:ext cx="7469981" cy="267176"/>
          </a:xfrm>
          <a:prstGeom prst="rect">
            <a:avLst/>
          </a:prstGeom>
          <a:noFill/>
          <a:ln/>
        </p:spPr>
        <p:txBody>
          <a:bodyPr wrap="none" lIns="0" tIns="0" rIns="0" bIns="0" rtlCol="0" anchor="t"/>
          <a:lstStyle/>
          <a:p>
            <a:pPr marL="0" indent="0" algn="l">
              <a:lnSpc>
                <a:spcPts val="2100"/>
              </a:lnSpc>
              <a:buNone/>
            </a:pPr>
            <a:r>
              <a:rPr lang="en-US" sz="1450" dirty="0">
                <a:solidFill>
                  <a:srgbClr val="E5E0DF"/>
                </a:solidFill>
                <a:latin typeface="Roboto Light" pitchFamily="34" charset="0"/>
                <a:ea typeface="Roboto Light" pitchFamily="34" charset="-122"/>
                <a:cs typeface="Roboto Light" pitchFamily="34" charset="-120"/>
              </a:rPr>
              <a:t>Forecast future crime-prone areas with accuracy</a:t>
            </a:r>
            <a:endParaRPr lang="en-US" sz="1450" dirty="0"/>
          </a:p>
        </p:txBody>
      </p:sp>
      <p:sp>
        <p:nvSpPr>
          <p:cNvPr id="20" name="Rectangle 19">
            <a:extLst>
              <a:ext uri="{FF2B5EF4-FFF2-40B4-BE49-F238E27FC236}">
                <a16:creationId xmlns:a16="http://schemas.microsoft.com/office/drawing/2014/main" id="{A75F77A8-CF9E-D27C-23CC-D1908F062DF6}"/>
              </a:ext>
            </a:extLst>
          </p:cNvPr>
          <p:cNvSpPr/>
          <p:nvPr/>
        </p:nvSpPr>
        <p:spPr>
          <a:xfrm>
            <a:off x="12708081" y="7512627"/>
            <a:ext cx="1839191" cy="613064"/>
          </a:xfrm>
          <a:prstGeom prst="rect">
            <a:avLst/>
          </a:prstGeom>
          <a:solidFill>
            <a:srgbClr val="050505"/>
          </a:solidFill>
          <a:ln>
            <a:solidFill>
              <a:srgbClr val="0505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E83F8D86-E8F9-69AD-8A01-1F7B70E723E1}"/>
              </a:ext>
            </a:extLst>
          </p:cNvPr>
          <p:cNvPicPr>
            <a:picLocks noChangeAspect="1"/>
          </p:cNvPicPr>
          <p:nvPr/>
        </p:nvPicPr>
        <p:blipFill>
          <a:blip r:embed="rId10"/>
          <a:stretch>
            <a:fillRect/>
          </a:stretch>
        </p:blipFill>
        <p:spPr>
          <a:xfrm>
            <a:off x="12804938" y="103909"/>
            <a:ext cx="1577395" cy="15690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204680" y="433626"/>
            <a:ext cx="5017294" cy="462796"/>
          </a:xfrm>
          <a:prstGeom prst="rect">
            <a:avLst/>
          </a:prstGeom>
          <a:noFill/>
          <a:ln/>
        </p:spPr>
        <p:txBody>
          <a:bodyPr wrap="none" lIns="0" tIns="0" rIns="0" bIns="0" rtlCol="0" anchor="t"/>
          <a:lstStyle/>
          <a:p>
            <a:pPr marL="0" indent="0" algn="l">
              <a:lnSpc>
                <a:spcPts val="3600"/>
              </a:lnSpc>
              <a:buNone/>
            </a:pPr>
            <a:r>
              <a:rPr lang="en-US" sz="2900" dirty="0">
                <a:solidFill>
                  <a:srgbClr val="F2F2F3"/>
                </a:solidFill>
                <a:latin typeface="Poppins Light" pitchFamily="34" charset="0"/>
                <a:ea typeface="Poppins Light" pitchFamily="34" charset="-122"/>
                <a:cs typeface="Poppins Light" pitchFamily="34" charset="-120"/>
              </a:rPr>
              <a:t>Crime Hotspot Visualization</a:t>
            </a:r>
            <a:endParaRPr lang="en-US" sz="2900" dirty="0"/>
          </a:p>
        </p:txBody>
      </p:sp>
      <p:sp>
        <p:nvSpPr>
          <p:cNvPr id="3" name="Text 1"/>
          <p:cNvSpPr/>
          <p:nvPr/>
        </p:nvSpPr>
        <p:spPr>
          <a:xfrm>
            <a:off x="2204680" y="2845475"/>
            <a:ext cx="6517243" cy="587573"/>
          </a:xfrm>
          <a:prstGeom prst="rect">
            <a:avLst/>
          </a:prstGeom>
          <a:noFill/>
          <a:ln/>
        </p:spPr>
        <p:txBody>
          <a:bodyPr wrap="square" lIns="0" tIns="0" rIns="0" bIns="0" rtlCol="0" anchor="t"/>
          <a:lstStyle/>
          <a:p>
            <a:pPr marL="0" indent="0" algn="l">
              <a:lnSpc>
                <a:spcPts val="1500"/>
              </a:lnSpc>
              <a:buNone/>
            </a:pPr>
            <a:r>
              <a:rPr lang="en-US" sz="1150" dirty="0">
                <a:solidFill>
                  <a:srgbClr val="E5E0DF"/>
                </a:solidFill>
                <a:latin typeface="Roboto Light" pitchFamily="34" charset="0"/>
                <a:ea typeface="Roboto Light" pitchFamily="34" charset="-122"/>
                <a:cs typeface="Roboto Light" pitchFamily="34" charset="-120"/>
              </a:rPr>
              <a:t>The platform integrates interactive mapping technology using Google Maps or Mapbox to present crime predictions visually. Areas with higher crime probability are displayed as </a:t>
            </a:r>
            <a:r>
              <a:rPr lang="en-US" sz="1150" b="1" dirty="0">
                <a:solidFill>
                  <a:srgbClr val="F2F2F3"/>
                </a:solidFill>
                <a:latin typeface="Roboto Light" pitchFamily="34" charset="0"/>
                <a:ea typeface="Roboto Light" pitchFamily="34" charset="-122"/>
                <a:cs typeface="Roboto Light" pitchFamily="34" charset="-120"/>
              </a:rPr>
              <a:t>hotspots</a:t>
            </a:r>
            <a:r>
              <a:rPr lang="en-US" sz="1150" dirty="0">
                <a:solidFill>
                  <a:srgbClr val="E5E0DF"/>
                </a:solidFill>
                <a:latin typeface="Roboto Light" pitchFamily="34" charset="0"/>
                <a:ea typeface="Roboto Light" pitchFamily="34" charset="-122"/>
                <a:cs typeface="Roboto Light" pitchFamily="34" charset="-120"/>
              </a:rPr>
              <a:t>, enabling citizens and authorities to quickly identify risk zones.</a:t>
            </a:r>
            <a:endParaRPr lang="en-US" sz="1150" dirty="0"/>
          </a:p>
        </p:txBody>
      </p:sp>
      <p:sp>
        <p:nvSpPr>
          <p:cNvPr id="4" name="Text 2"/>
          <p:cNvSpPr/>
          <p:nvPr/>
        </p:nvSpPr>
        <p:spPr>
          <a:xfrm>
            <a:off x="2204680" y="3520083"/>
            <a:ext cx="6517243" cy="391716"/>
          </a:xfrm>
          <a:prstGeom prst="rect">
            <a:avLst/>
          </a:prstGeom>
          <a:noFill/>
          <a:ln/>
        </p:spPr>
        <p:txBody>
          <a:bodyPr wrap="square" lIns="0" tIns="0" rIns="0" bIns="0" rtlCol="0" anchor="t"/>
          <a:lstStyle/>
          <a:p>
            <a:pPr marL="0" indent="0" algn="l">
              <a:lnSpc>
                <a:spcPts val="1500"/>
              </a:lnSpc>
              <a:buNone/>
            </a:pPr>
            <a:r>
              <a:rPr lang="en-US" sz="1150" dirty="0">
                <a:solidFill>
                  <a:srgbClr val="E5E0DF"/>
                </a:solidFill>
                <a:latin typeface="Roboto Light" pitchFamily="34" charset="0"/>
                <a:ea typeface="Roboto Light" pitchFamily="34" charset="-122"/>
                <a:cs typeface="Roboto Light" pitchFamily="34" charset="-120"/>
              </a:rPr>
              <a:t>This visual representation simplifies crime analysis and facilitates better decision-making for both individuals and law enforcement agencies.</a:t>
            </a:r>
            <a:endParaRPr lang="en-US" sz="1150" dirty="0"/>
          </a:p>
        </p:txBody>
      </p:sp>
      <p:pic>
        <p:nvPicPr>
          <p:cNvPr id="5" name="Image 0" descr="preencoded.png"/>
          <p:cNvPicPr>
            <a:picLocks noChangeAspect="1"/>
          </p:cNvPicPr>
          <p:nvPr/>
        </p:nvPicPr>
        <p:blipFill>
          <a:blip r:embed="rId3"/>
          <a:stretch>
            <a:fillRect/>
          </a:stretch>
        </p:blipFill>
        <p:spPr>
          <a:xfrm>
            <a:off x="9090779" y="1150263"/>
            <a:ext cx="3342561" cy="4456748"/>
          </a:xfrm>
          <a:prstGeom prst="rect">
            <a:avLst/>
          </a:prstGeom>
        </p:spPr>
      </p:pic>
      <p:sp>
        <p:nvSpPr>
          <p:cNvPr id="6" name="Text 3"/>
          <p:cNvSpPr/>
          <p:nvPr/>
        </p:nvSpPr>
        <p:spPr>
          <a:xfrm>
            <a:off x="2204680" y="5824657"/>
            <a:ext cx="148114" cy="185142"/>
          </a:xfrm>
          <a:prstGeom prst="rect">
            <a:avLst/>
          </a:prstGeom>
          <a:noFill/>
          <a:ln/>
        </p:spPr>
        <p:txBody>
          <a:bodyPr wrap="none" lIns="0" tIns="0" rIns="0" bIns="0" rtlCol="0" anchor="t"/>
          <a:lstStyle/>
          <a:p>
            <a:pPr marL="0" indent="0" algn="l">
              <a:lnSpc>
                <a:spcPts val="1500"/>
              </a:lnSpc>
              <a:buNone/>
            </a:pPr>
            <a:r>
              <a:rPr lang="en-US" sz="1150" dirty="0">
                <a:solidFill>
                  <a:srgbClr val="E5E0DF"/>
                </a:solidFill>
                <a:latin typeface="Poppins Light" pitchFamily="34" charset="0"/>
                <a:ea typeface="Poppins Light" pitchFamily="34" charset="-122"/>
                <a:cs typeface="Poppins Light" pitchFamily="34" charset="-120"/>
              </a:rPr>
              <a:t>01</a:t>
            </a:r>
            <a:endParaRPr lang="en-US" sz="1150" dirty="0"/>
          </a:p>
        </p:txBody>
      </p:sp>
      <p:sp>
        <p:nvSpPr>
          <p:cNvPr id="7" name="Shape 4"/>
          <p:cNvSpPr/>
          <p:nvPr/>
        </p:nvSpPr>
        <p:spPr>
          <a:xfrm>
            <a:off x="2204680" y="6061115"/>
            <a:ext cx="5062180" cy="15240"/>
          </a:xfrm>
          <a:prstGeom prst="rect">
            <a:avLst/>
          </a:prstGeom>
          <a:solidFill>
            <a:srgbClr val="F2F2F3"/>
          </a:solidFill>
          <a:ln/>
        </p:spPr>
      </p:sp>
      <p:sp>
        <p:nvSpPr>
          <p:cNvPr id="8" name="Text 5"/>
          <p:cNvSpPr/>
          <p:nvPr/>
        </p:nvSpPr>
        <p:spPr>
          <a:xfrm>
            <a:off x="2204680" y="6165652"/>
            <a:ext cx="1851541" cy="231338"/>
          </a:xfrm>
          <a:prstGeom prst="rect">
            <a:avLst/>
          </a:prstGeom>
          <a:noFill/>
          <a:ln/>
        </p:spPr>
        <p:txBody>
          <a:bodyPr wrap="none" lIns="0" tIns="0" rIns="0" bIns="0" rtlCol="0" anchor="t"/>
          <a:lstStyle/>
          <a:p>
            <a:pPr marL="0" indent="0" algn="l">
              <a:lnSpc>
                <a:spcPts val="1800"/>
              </a:lnSpc>
              <a:buNone/>
            </a:pPr>
            <a:r>
              <a:rPr lang="en-US" sz="1450" dirty="0">
                <a:solidFill>
                  <a:srgbClr val="E5E0DF"/>
                </a:solidFill>
                <a:latin typeface="Poppins Light" pitchFamily="34" charset="0"/>
                <a:ea typeface="Poppins Light" pitchFamily="34" charset="-122"/>
                <a:cs typeface="Poppins Light" pitchFamily="34" charset="-120"/>
              </a:rPr>
              <a:t>Data Collection</a:t>
            </a:r>
            <a:endParaRPr lang="en-US" sz="1450" dirty="0"/>
          </a:p>
        </p:txBody>
      </p:sp>
      <p:sp>
        <p:nvSpPr>
          <p:cNvPr id="9" name="Text 6"/>
          <p:cNvSpPr/>
          <p:nvPr/>
        </p:nvSpPr>
        <p:spPr>
          <a:xfrm>
            <a:off x="2204680" y="6454973"/>
            <a:ext cx="5062180" cy="195858"/>
          </a:xfrm>
          <a:prstGeom prst="rect">
            <a:avLst/>
          </a:prstGeom>
          <a:noFill/>
          <a:ln/>
        </p:spPr>
        <p:txBody>
          <a:bodyPr wrap="none" lIns="0" tIns="0" rIns="0" bIns="0" rtlCol="0" anchor="t"/>
          <a:lstStyle/>
          <a:p>
            <a:pPr marL="0" indent="0" algn="l">
              <a:lnSpc>
                <a:spcPts val="1500"/>
              </a:lnSpc>
              <a:buNone/>
            </a:pPr>
            <a:r>
              <a:rPr lang="en-US" sz="1150" dirty="0">
                <a:solidFill>
                  <a:srgbClr val="E5E0DF"/>
                </a:solidFill>
                <a:latin typeface="Roboto Light" pitchFamily="34" charset="0"/>
                <a:ea typeface="Roboto Light" pitchFamily="34" charset="-122"/>
                <a:cs typeface="Roboto Light" pitchFamily="34" charset="-120"/>
              </a:rPr>
              <a:t>Gather historical crime records with time, location, and type</a:t>
            </a:r>
            <a:endParaRPr lang="en-US" sz="1150" dirty="0"/>
          </a:p>
        </p:txBody>
      </p:sp>
      <p:sp>
        <p:nvSpPr>
          <p:cNvPr id="10" name="Text 7"/>
          <p:cNvSpPr/>
          <p:nvPr/>
        </p:nvSpPr>
        <p:spPr>
          <a:xfrm>
            <a:off x="7363539" y="5824657"/>
            <a:ext cx="148114" cy="185142"/>
          </a:xfrm>
          <a:prstGeom prst="rect">
            <a:avLst/>
          </a:prstGeom>
          <a:noFill/>
          <a:ln/>
        </p:spPr>
        <p:txBody>
          <a:bodyPr wrap="none" lIns="0" tIns="0" rIns="0" bIns="0" rtlCol="0" anchor="t"/>
          <a:lstStyle/>
          <a:p>
            <a:pPr marL="0" indent="0" algn="l">
              <a:lnSpc>
                <a:spcPts val="1500"/>
              </a:lnSpc>
              <a:buNone/>
            </a:pPr>
            <a:r>
              <a:rPr lang="en-US" sz="1150" dirty="0">
                <a:solidFill>
                  <a:srgbClr val="E5E0DF"/>
                </a:solidFill>
                <a:latin typeface="Poppins Light" pitchFamily="34" charset="0"/>
                <a:ea typeface="Poppins Light" pitchFamily="34" charset="-122"/>
                <a:cs typeface="Poppins Light" pitchFamily="34" charset="-120"/>
              </a:rPr>
              <a:t>02</a:t>
            </a:r>
            <a:endParaRPr lang="en-US" sz="1150" dirty="0"/>
          </a:p>
        </p:txBody>
      </p:sp>
      <p:sp>
        <p:nvSpPr>
          <p:cNvPr id="11" name="Shape 8"/>
          <p:cNvSpPr/>
          <p:nvPr/>
        </p:nvSpPr>
        <p:spPr>
          <a:xfrm>
            <a:off x="7363539" y="6061115"/>
            <a:ext cx="5062180" cy="15240"/>
          </a:xfrm>
          <a:prstGeom prst="rect">
            <a:avLst/>
          </a:prstGeom>
          <a:solidFill>
            <a:srgbClr val="F2F2F3"/>
          </a:solidFill>
          <a:ln/>
        </p:spPr>
      </p:sp>
      <p:sp>
        <p:nvSpPr>
          <p:cNvPr id="12" name="Text 9"/>
          <p:cNvSpPr/>
          <p:nvPr/>
        </p:nvSpPr>
        <p:spPr>
          <a:xfrm>
            <a:off x="7363539" y="6165652"/>
            <a:ext cx="1851541" cy="231338"/>
          </a:xfrm>
          <a:prstGeom prst="rect">
            <a:avLst/>
          </a:prstGeom>
          <a:noFill/>
          <a:ln/>
        </p:spPr>
        <p:txBody>
          <a:bodyPr wrap="none" lIns="0" tIns="0" rIns="0" bIns="0" rtlCol="0" anchor="t"/>
          <a:lstStyle/>
          <a:p>
            <a:pPr marL="0" indent="0" algn="l">
              <a:lnSpc>
                <a:spcPts val="1800"/>
              </a:lnSpc>
              <a:buNone/>
            </a:pPr>
            <a:r>
              <a:rPr lang="en-US" sz="1450" dirty="0">
                <a:solidFill>
                  <a:srgbClr val="E5E0DF"/>
                </a:solidFill>
                <a:latin typeface="Poppins Light" pitchFamily="34" charset="0"/>
                <a:ea typeface="Poppins Light" pitchFamily="34" charset="-122"/>
                <a:cs typeface="Poppins Light" pitchFamily="34" charset="-120"/>
              </a:rPr>
              <a:t>Pattern Analysis</a:t>
            </a:r>
            <a:endParaRPr lang="en-US" sz="1450" dirty="0"/>
          </a:p>
        </p:txBody>
      </p:sp>
      <p:sp>
        <p:nvSpPr>
          <p:cNvPr id="13" name="Text 10"/>
          <p:cNvSpPr/>
          <p:nvPr/>
        </p:nvSpPr>
        <p:spPr>
          <a:xfrm>
            <a:off x="7363539" y="6454973"/>
            <a:ext cx="5062180" cy="195858"/>
          </a:xfrm>
          <a:prstGeom prst="rect">
            <a:avLst/>
          </a:prstGeom>
          <a:noFill/>
          <a:ln/>
        </p:spPr>
        <p:txBody>
          <a:bodyPr wrap="none" lIns="0" tIns="0" rIns="0" bIns="0" rtlCol="0" anchor="t"/>
          <a:lstStyle/>
          <a:p>
            <a:pPr marL="0" indent="0" algn="l">
              <a:lnSpc>
                <a:spcPts val="1500"/>
              </a:lnSpc>
              <a:buNone/>
            </a:pPr>
            <a:r>
              <a:rPr lang="en-US" sz="1150" dirty="0">
                <a:solidFill>
                  <a:srgbClr val="E5E0DF"/>
                </a:solidFill>
                <a:latin typeface="Roboto Light" pitchFamily="34" charset="0"/>
                <a:ea typeface="Roboto Light" pitchFamily="34" charset="-122"/>
                <a:cs typeface="Roboto Light" pitchFamily="34" charset="-120"/>
              </a:rPr>
              <a:t>Machine learning identifies recurring patterns and trends</a:t>
            </a:r>
            <a:endParaRPr lang="en-US" sz="1150" dirty="0"/>
          </a:p>
        </p:txBody>
      </p:sp>
      <p:sp>
        <p:nvSpPr>
          <p:cNvPr id="14" name="Text 11"/>
          <p:cNvSpPr/>
          <p:nvPr/>
        </p:nvSpPr>
        <p:spPr>
          <a:xfrm>
            <a:off x="2204680" y="6858595"/>
            <a:ext cx="148114" cy="185142"/>
          </a:xfrm>
          <a:prstGeom prst="rect">
            <a:avLst/>
          </a:prstGeom>
          <a:noFill/>
          <a:ln/>
        </p:spPr>
        <p:txBody>
          <a:bodyPr wrap="none" lIns="0" tIns="0" rIns="0" bIns="0" rtlCol="0" anchor="t"/>
          <a:lstStyle/>
          <a:p>
            <a:pPr marL="0" indent="0" algn="l">
              <a:lnSpc>
                <a:spcPts val="1500"/>
              </a:lnSpc>
              <a:buNone/>
            </a:pPr>
            <a:r>
              <a:rPr lang="en-US" sz="1150" dirty="0">
                <a:solidFill>
                  <a:srgbClr val="E5E0DF"/>
                </a:solidFill>
                <a:latin typeface="Poppins Light" pitchFamily="34" charset="0"/>
                <a:ea typeface="Poppins Light" pitchFamily="34" charset="-122"/>
                <a:cs typeface="Poppins Light" pitchFamily="34" charset="-120"/>
              </a:rPr>
              <a:t>03</a:t>
            </a:r>
            <a:endParaRPr lang="en-US" sz="1150" dirty="0"/>
          </a:p>
        </p:txBody>
      </p:sp>
      <p:sp>
        <p:nvSpPr>
          <p:cNvPr id="15" name="Shape 12"/>
          <p:cNvSpPr/>
          <p:nvPr/>
        </p:nvSpPr>
        <p:spPr>
          <a:xfrm>
            <a:off x="2204680" y="7095053"/>
            <a:ext cx="5062180" cy="15240"/>
          </a:xfrm>
          <a:prstGeom prst="rect">
            <a:avLst/>
          </a:prstGeom>
          <a:solidFill>
            <a:srgbClr val="F2F2F3"/>
          </a:solidFill>
          <a:ln/>
        </p:spPr>
      </p:sp>
      <p:sp>
        <p:nvSpPr>
          <p:cNvPr id="16" name="Text 13"/>
          <p:cNvSpPr/>
          <p:nvPr/>
        </p:nvSpPr>
        <p:spPr>
          <a:xfrm>
            <a:off x="2204680" y="7199590"/>
            <a:ext cx="1851541" cy="231338"/>
          </a:xfrm>
          <a:prstGeom prst="rect">
            <a:avLst/>
          </a:prstGeom>
          <a:noFill/>
          <a:ln/>
        </p:spPr>
        <p:txBody>
          <a:bodyPr wrap="none" lIns="0" tIns="0" rIns="0" bIns="0" rtlCol="0" anchor="t"/>
          <a:lstStyle/>
          <a:p>
            <a:pPr marL="0" indent="0" algn="l">
              <a:lnSpc>
                <a:spcPts val="1800"/>
              </a:lnSpc>
              <a:buNone/>
            </a:pPr>
            <a:r>
              <a:rPr lang="en-US" sz="1450" dirty="0">
                <a:solidFill>
                  <a:srgbClr val="E5E0DF"/>
                </a:solidFill>
                <a:latin typeface="Poppins Light" pitchFamily="34" charset="0"/>
                <a:ea typeface="Poppins Light" pitchFamily="34" charset="-122"/>
                <a:cs typeface="Poppins Light" pitchFamily="34" charset="-120"/>
              </a:rPr>
              <a:t>Hotspot Mapping</a:t>
            </a:r>
            <a:endParaRPr lang="en-US" sz="1450" dirty="0"/>
          </a:p>
        </p:txBody>
      </p:sp>
      <p:sp>
        <p:nvSpPr>
          <p:cNvPr id="17" name="Text 14"/>
          <p:cNvSpPr/>
          <p:nvPr/>
        </p:nvSpPr>
        <p:spPr>
          <a:xfrm>
            <a:off x="2204680" y="7488912"/>
            <a:ext cx="5062180" cy="195858"/>
          </a:xfrm>
          <a:prstGeom prst="rect">
            <a:avLst/>
          </a:prstGeom>
          <a:noFill/>
          <a:ln/>
        </p:spPr>
        <p:txBody>
          <a:bodyPr wrap="none" lIns="0" tIns="0" rIns="0" bIns="0" rtlCol="0" anchor="t"/>
          <a:lstStyle/>
          <a:p>
            <a:pPr marL="0" indent="0" algn="l">
              <a:lnSpc>
                <a:spcPts val="1500"/>
              </a:lnSpc>
              <a:buNone/>
            </a:pPr>
            <a:r>
              <a:rPr lang="en-US" sz="1150" dirty="0">
                <a:solidFill>
                  <a:srgbClr val="E5E0DF"/>
                </a:solidFill>
                <a:latin typeface="Roboto Light" pitchFamily="34" charset="0"/>
                <a:ea typeface="Roboto Light" pitchFamily="34" charset="-122"/>
                <a:cs typeface="Roboto Light" pitchFamily="34" charset="-120"/>
              </a:rPr>
              <a:t>Visual display of high-risk areas on interactive maps</a:t>
            </a:r>
            <a:endParaRPr lang="en-US" sz="1150" dirty="0"/>
          </a:p>
        </p:txBody>
      </p:sp>
      <p:sp>
        <p:nvSpPr>
          <p:cNvPr id="18" name="Text 15"/>
          <p:cNvSpPr/>
          <p:nvPr/>
        </p:nvSpPr>
        <p:spPr>
          <a:xfrm>
            <a:off x="7363539" y="6858595"/>
            <a:ext cx="148114" cy="185142"/>
          </a:xfrm>
          <a:prstGeom prst="rect">
            <a:avLst/>
          </a:prstGeom>
          <a:noFill/>
          <a:ln/>
        </p:spPr>
        <p:txBody>
          <a:bodyPr wrap="none" lIns="0" tIns="0" rIns="0" bIns="0" rtlCol="0" anchor="t"/>
          <a:lstStyle/>
          <a:p>
            <a:pPr marL="0" indent="0" algn="l">
              <a:lnSpc>
                <a:spcPts val="1500"/>
              </a:lnSpc>
              <a:buNone/>
            </a:pPr>
            <a:r>
              <a:rPr lang="en-US" sz="1150" dirty="0">
                <a:solidFill>
                  <a:srgbClr val="E5E0DF"/>
                </a:solidFill>
                <a:latin typeface="Poppins Light" pitchFamily="34" charset="0"/>
                <a:ea typeface="Poppins Light" pitchFamily="34" charset="-122"/>
                <a:cs typeface="Poppins Light" pitchFamily="34" charset="-120"/>
              </a:rPr>
              <a:t>04</a:t>
            </a:r>
            <a:endParaRPr lang="en-US" sz="1150" dirty="0"/>
          </a:p>
        </p:txBody>
      </p:sp>
      <p:sp>
        <p:nvSpPr>
          <p:cNvPr id="19" name="Shape 16"/>
          <p:cNvSpPr/>
          <p:nvPr/>
        </p:nvSpPr>
        <p:spPr>
          <a:xfrm>
            <a:off x="7363539" y="7095053"/>
            <a:ext cx="5062180" cy="15240"/>
          </a:xfrm>
          <a:prstGeom prst="rect">
            <a:avLst/>
          </a:prstGeom>
          <a:solidFill>
            <a:srgbClr val="F2F2F3"/>
          </a:solidFill>
          <a:ln/>
        </p:spPr>
      </p:sp>
      <p:sp>
        <p:nvSpPr>
          <p:cNvPr id="20" name="Text 17"/>
          <p:cNvSpPr/>
          <p:nvPr/>
        </p:nvSpPr>
        <p:spPr>
          <a:xfrm>
            <a:off x="7363539" y="7199590"/>
            <a:ext cx="1851541" cy="231338"/>
          </a:xfrm>
          <a:prstGeom prst="rect">
            <a:avLst/>
          </a:prstGeom>
          <a:noFill/>
          <a:ln/>
        </p:spPr>
        <p:txBody>
          <a:bodyPr wrap="none" lIns="0" tIns="0" rIns="0" bIns="0" rtlCol="0" anchor="t"/>
          <a:lstStyle/>
          <a:p>
            <a:pPr marL="0" indent="0" algn="l">
              <a:lnSpc>
                <a:spcPts val="1800"/>
              </a:lnSpc>
              <a:buNone/>
            </a:pPr>
            <a:r>
              <a:rPr lang="en-US" sz="1450" dirty="0">
                <a:solidFill>
                  <a:srgbClr val="E5E0DF"/>
                </a:solidFill>
                <a:latin typeface="Poppins Light" pitchFamily="34" charset="0"/>
                <a:ea typeface="Poppins Light" pitchFamily="34" charset="-122"/>
                <a:cs typeface="Poppins Light" pitchFamily="34" charset="-120"/>
              </a:rPr>
              <a:t>Decision Support</a:t>
            </a:r>
            <a:endParaRPr lang="en-US" sz="1450" dirty="0"/>
          </a:p>
        </p:txBody>
      </p:sp>
      <p:sp>
        <p:nvSpPr>
          <p:cNvPr id="21" name="Text 18"/>
          <p:cNvSpPr/>
          <p:nvPr/>
        </p:nvSpPr>
        <p:spPr>
          <a:xfrm>
            <a:off x="7363539" y="7488912"/>
            <a:ext cx="5062180" cy="195858"/>
          </a:xfrm>
          <a:prstGeom prst="rect">
            <a:avLst/>
          </a:prstGeom>
          <a:noFill/>
          <a:ln/>
        </p:spPr>
        <p:txBody>
          <a:bodyPr wrap="none" lIns="0" tIns="0" rIns="0" bIns="0" rtlCol="0" anchor="t"/>
          <a:lstStyle/>
          <a:p>
            <a:pPr marL="0" indent="0" algn="l">
              <a:lnSpc>
                <a:spcPts val="1500"/>
              </a:lnSpc>
              <a:buNone/>
            </a:pPr>
            <a:r>
              <a:rPr lang="en-US" sz="1150" dirty="0">
                <a:solidFill>
                  <a:srgbClr val="E5E0DF"/>
                </a:solidFill>
                <a:latin typeface="Roboto Light" pitchFamily="34" charset="0"/>
                <a:ea typeface="Roboto Light" pitchFamily="34" charset="-122"/>
                <a:cs typeface="Roboto Light" pitchFamily="34" charset="-120"/>
              </a:rPr>
              <a:t>Authorities and citizens make informed safety choices</a:t>
            </a:r>
            <a:endParaRPr lang="en-US" sz="1150" dirty="0"/>
          </a:p>
        </p:txBody>
      </p:sp>
      <p:sp>
        <p:nvSpPr>
          <p:cNvPr id="22" name="Rectangle 21">
            <a:extLst>
              <a:ext uri="{FF2B5EF4-FFF2-40B4-BE49-F238E27FC236}">
                <a16:creationId xmlns:a16="http://schemas.microsoft.com/office/drawing/2014/main" id="{736B18CC-87C5-A6FB-A4CB-E3BC0F0818B2}"/>
              </a:ext>
            </a:extLst>
          </p:cNvPr>
          <p:cNvSpPr/>
          <p:nvPr/>
        </p:nvSpPr>
        <p:spPr>
          <a:xfrm>
            <a:off x="12708081" y="7512627"/>
            <a:ext cx="1839191" cy="613064"/>
          </a:xfrm>
          <a:prstGeom prst="rect">
            <a:avLst/>
          </a:prstGeom>
          <a:solidFill>
            <a:srgbClr val="050505"/>
          </a:solidFill>
          <a:ln>
            <a:solidFill>
              <a:srgbClr val="0505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F7C19164-CBAB-5E03-925F-DD72FCB0F8C0}"/>
              </a:ext>
            </a:extLst>
          </p:cNvPr>
          <p:cNvPicPr>
            <a:picLocks noChangeAspect="1"/>
          </p:cNvPicPr>
          <p:nvPr/>
        </p:nvPicPr>
        <p:blipFill>
          <a:blip r:embed="rId4"/>
          <a:stretch>
            <a:fillRect/>
          </a:stretch>
        </p:blipFill>
        <p:spPr>
          <a:xfrm>
            <a:off x="12804938" y="103909"/>
            <a:ext cx="1577395" cy="15690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2950" y="622935"/>
            <a:ext cx="7658100" cy="1326594"/>
          </a:xfrm>
          <a:prstGeom prst="rect">
            <a:avLst/>
          </a:prstGeom>
          <a:noFill/>
          <a:ln/>
        </p:spPr>
        <p:txBody>
          <a:bodyPr wrap="square" lIns="0" tIns="0" rIns="0" bIns="0" rtlCol="0" anchor="t"/>
          <a:lstStyle/>
          <a:p>
            <a:pPr marL="0" indent="0" algn="l">
              <a:lnSpc>
                <a:spcPts val="5200"/>
              </a:lnSpc>
              <a:buNone/>
            </a:pPr>
            <a:r>
              <a:rPr lang="en-US" sz="4150" dirty="0">
                <a:solidFill>
                  <a:srgbClr val="F2F2F3"/>
                </a:solidFill>
                <a:latin typeface="Poppins Light" pitchFamily="34" charset="0"/>
                <a:ea typeface="Poppins Light" pitchFamily="34" charset="-122"/>
                <a:cs typeface="Poppins Light" pitchFamily="34" charset="-120"/>
              </a:rPr>
              <a:t>Safe Route Recommendation System</a:t>
            </a:r>
            <a:endParaRPr lang="en-US" sz="4150" dirty="0"/>
          </a:p>
        </p:txBody>
      </p:sp>
      <p:pic>
        <p:nvPicPr>
          <p:cNvPr id="4" name="Image 1" descr="preencoded.png"/>
          <p:cNvPicPr>
            <a:picLocks noChangeAspect="1"/>
          </p:cNvPicPr>
          <p:nvPr/>
        </p:nvPicPr>
        <p:blipFill>
          <a:blip r:embed="rId4"/>
          <a:stretch>
            <a:fillRect/>
          </a:stretch>
        </p:blipFill>
        <p:spPr>
          <a:xfrm>
            <a:off x="742950" y="2247424"/>
            <a:ext cx="1061323" cy="1273612"/>
          </a:xfrm>
          <a:prstGeom prst="rect">
            <a:avLst/>
          </a:prstGeom>
        </p:spPr>
      </p:pic>
      <p:sp>
        <p:nvSpPr>
          <p:cNvPr id="5" name="Text 1"/>
          <p:cNvSpPr/>
          <p:nvPr/>
        </p:nvSpPr>
        <p:spPr>
          <a:xfrm>
            <a:off x="2002869" y="2459593"/>
            <a:ext cx="2653427" cy="331708"/>
          </a:xfrm>
          <a:prstGeom prst="rect">
            <a:avLst/>
          </a:prstGeom>
          <a:noFill/>
          <a:ln/>
        </p:spPr>
        <p:txBody>
          <a:bodyPr wrap="none" lIns="0" tIns="0" rIns="0" bIns="0" rtlCol="0" anchor="t"/>
          <a:lstStyle/>
          <a:p>
            <a:pPr marL="0" indent="0" algn="l">
              <a:lnSpc>
                <a:spcPts val="2600"/>
              </a:lnSpc>
              <a:buNone/>
            </a:pPr>
            <a:r>
              <a:rPr lang="en-US" sz="2050" dirty="0">
                <a:solidFill>
                  <a:srgbClr val="E5E0DF"/>
                </a:solidFill>
                <a:latin typeface="Poppins Light" pitchFamily="34" charset="0"/>
                <a:ea typeface="Poppins Light" pitchFamily="34" charset="-122"/>
                <a:cs typeface="Poppins Light" pitchFamily="34" charset="-120"/>
              </a:rPr>
              <a:t>Route Analysis</a:t>
            </a:r>
            <a:endParaRPr lang="en-US" sz="2050" dirty="0"/>
          </a:p>
        </p:txBody>
      </p:sp>
      <p:sp>
        <p:nvSpPr>
          <p:cNvPr id="6" name="Text 2"/>
          <p:cNvSpPr/>
          <p:nvPr/>
        </p:nvSpPr>
        <p:spPr>
          <a:xfrm>
            <a:off x="2002869" y="2910483"/>
            <a:ext cx="6398181" cy="328732"/>
          </a:xfrm>
          <a:prstGeom prst="rect">
            <a:avLst/>
          </a:prstGeom>
          <a:noFill/>
          <a:ln/>
        </p:spPr>
        <p:txBody>
          <a:bodyPr wrap="none" lIns="0" tIns="0" rIns="0" bIns="0" rtlCol="0" anchor="t"/>
          <a:lstStyle/>
          <a:p>
            <a:pPr marL="0" indent="0" algn="l">
              <a:lnSpc>
                <a:spcPts val="2550"/>
              </a:lnSpc>
              <a:buNone/>
            </a:pPr>
            <a:r>
              <a:rPr lang="en-US" sz="1650" dirty="0">
                <a:solidFill>
                  <a:srgbClr val="E5E0DF"/>
                </a:solidFill>
                <a:latin typeface="Roboto Light" pitchFamily="34" charset="0"/>
                <a:ea typeface="Roboto Light" pitchFamily="34" charset="-122"/>
                <a:cs typeface="Roboto Light" pitchFamily="34" charset="-120"/>
              </a:rPr>
              <a:t>Evaluates multiple possible paths between locations</a:t>
            </a:r>
            <a:endParaRPr lang="en-US" sz="1650" dirty="0"/>
          </a:p>
        </p:txBody>
      </p:sp>
      <p:pic>
        <p:nvPicPr>
          <p:cNvPr id="7" name="Image 2" descr="preencoded.png"/>
          <p:cNvPicPr>
            <a:picLocks noChangeAspect="1"/>
          </p:cNvPicPr>
          <p:nvPr/>
        </p:nvPicPr>
        <p:blipFill>
          <a:blip r:embed="rId5"/>
          <a:stretch>
            <a:fillRect/>
          </a:stretch>
        </p:blipFill>
        <p:spPr>
          <a:xfrm>
            <a:off x="742950" y="3521035"/>
            <a:ext cx="1061323" cy="1273612"/>
          </a:xfrm>
          <a:prstGeom prst="rect">
            <a:avLst/>
          </a:prstGeom>
        </p:spPr>
      </p:pic>
      <p:sp>
        <p:nvSpPr>
          <p:cNvPr id="8" name="Text 3"/>
          <p:cNvSpPr/>
          <p:nvPr/>
        </p:nvSpPr>
        <p:spPr>
          <a:xfrm>
            <a:off x="2002869" y="3733205"/>
            <a:ext cx="2653427" cy="331708"/>
          </a:xfrm>
          <a:prstGeom prst="rect">
            <a:avLst/>
          </a:prstGeom>
          <a:noFill/>
          <a:ln/>
        </p:spPr>
        <p:txBody>
          <a:bodyPr wrap="none" lIns="0" tIns="0" rIns="0" bIns="0" rtlCol="0" anchor="t"/>
          <a:lstStyle/>
          <a:p>
            <a:pPr marL="0" indent="0" algn="l">
              <a:lnSpc>
                <a:spcPts val="2600"/>
              </a:lnSpc>
              <a:buNone/>
            </a:pPr>
            <a:r>
              <a:rPr lang="en-US" sz="2050" dirty="0">
                <a:solidFill>
                  <a:srgbClr val="E5E0DF"/>
                </a:solidFill>
                <a:latin typeface="Poppins Light" pitchFamily="34" charset="0"/>
                <a:ea typeface="Poppins Light" pitchFamily="34" charset="-122"/>
                <a:cs typeface="Poppins Light" pitchFamily="34" charset="-120"/>
              </a:rPr>
              <a:t>Risk Assessment</a:t>
            </a:r>
            <a:endParaRPr lang="en-US" sz="2050" dirty="0"/>
          </a:p>
        </p:txBody>
      </p:sp>
      <p:sp>
        <p:nvSpPr>
          <p:cNvPr id="9" name="Text 4"/>
          <p:cNvSpPr/>
          <p:nvPr/>
        </p:nvSpPr>
        <p:spPr>
          <a:xfrm>
            <a:off x="2002869" y="4184094"/>
            <a:ext cx="6398181" cy="328732"/>
          </a:xfrm>
          <a:prstGeom prst="rect">
            <a:avLst/>
          </a:prstGeom>
          <a:noFill/>
          <a:ln/>
        </p:spPr>
        <p:txBody>
          <a:bodyPr wrap="none" lIns="0" tIns="0" rIns="0" bIns="0" rtlCol="0" anchor="t"/>
          <a:lstStyle/>
          <a:p>
            <a:pPr marL="0" indent="0" algn="l">
              <a:lnSpc>
                <a:spcPts val="2550"/>
              </a:lnSpc>
              <a:buNone/>
            </a:pPr>
            <a:r>
              <a:rPr lang="en-US" sz="1650" dirty="0">
                <a:solidFill>
                  <a:srgbClr val="E5E0DF"/>
                </a:solidFill>
                <a:latin typeface="Roboto Light" pitchFamily="34" charset="0"/>
                <a:ea typeface="Roboto Light" pitchFamily="34" charset="-122"/>
                <a:cs typeface="Roboto Light" pitchFamily="34" charset="-120"/>
              </a:rPr>
              <a:t>Calculates crime risk scores for each segment</a:t>
            </a:r>
            <a:endParaRPr lang="en-US" sz="1650" dirty="0"/>
          </a:p>
        </p:txBody>
      </p:sp>
      <p:pic>
        <p:nvPicPr>
          <p:cNvPr id="10" name="Image 3" descr="preencoded.png"/>
          <p:cNvPicPr>
            <a:picLocks noChangeAspect="1"/>
          </p:cNvPicPr>
          <p:nvPr/>
        </p:nvPicPr>
        <p:blipFill>
          <a:blip r:embed="rId6"/>
          <a:stretch>
            <a:fillRect/>
          </a:stretch>
        </p:blipFill>
        <p:spPr>
          <a:xfrm>
            <a:off x="742950" y="4794647"/>
            <a:ext cx="1061323" cy="1273612"/>
          </a:xfrm>
          <a:prstGeom prst="rect">
            <a:avLst/>
          </a:prstGeom>
        </p:spPr>
      </p:pic>
      <p:sp>
        <p:nvSpPr>
          <p:cNvPr id="11" name="Text 5"/>
          <p:cNvSpPr/>
          <p:nvPr/>
        </p:nvSpPr>
        <p:spPr>
          <a:xfrm>
            <a:off x="2002869" y="5006816"/>
            <a:ext cx="2653427" cy="331708"/>
          </a:xfrm>
          <a:prstGeom prst="rect">
            <a:avLst/>
          </a:prstGeom>
          <a:noFill/>
          <a:ln/>
        </p:spPr>
        <p:txBody>
          <a:bodyPr wrap="none" lIns="0" tIns="0" rIns="0" bIns="0" rtlCol="0" anchor="t"/>
          <a:lstStyle/>
          <a:p>
            <a:pPr marL="0" indent="0" algn="l">
              <a:lnSpc>
                <a:spcPts val="2600"/>
              </a:lnSpc>
              <a:buNone/>
            </a:pPr>
            <a:r>
              <a:rPr lang="en-US" sz="2050" dirty="0">
                <a:solidFill>
                  <a:srgbClr val="E5E0DF"/>
                </a:solidFill>
                <a:latin typeface="Poppins Light" pitchFamily="34" charset="0"/>
                <a:ea typeface="Poppins Light" pitchFamily="34" charset="-122"/>
                <a:cs typeface="Poppins Light" pitchFamily="34" charset="-120"/>
              </a:rPr>
              <a:t>Optimal Path</a:t>
            </a:r>
            <a:endParaRPr lang="en-US" sz="2050" dirty="0"/>
          </a:p>
        </p:txBody>
      </p:sp>
      <p:sp>
        <p:nvSpPr>
          <p:cNvPr id="12" name="Text 6"/>
          <p:cNvSpPr/>
          <p:nvPr/>
        </p:nvSpPr>
        <p:spPr>
          <a:xfrm>
            <a:off x="2002869" y="5457706"/>
            <a:ext cx="6398181" cy="328732"/>
          </a:xfrm>
          <a:prstGeom prst="rect">
            <a:avLst/>
          </a:prstGeom>
          <a:noFill/>
          <a:ln/>
        </p:spPr>
        <p:txBody>
          <a:bodyPr wrap="none" lIns="0" tIns="0" rIns="0" bIns="0" rtlCol="0" anchor="t"/>
          <a:lstStyle/>
          <a:p>
            <a:pPr marL="0" indent="0" algn="l">
              <a:lnSpc>
                <a:spcPts val="2550"/>
              </a:lnSpc>
              <a:buNone/>
            </a:pPr>
            <a:r>
              <a:rPr lang="en-US" sz="1650" dirty="0">
                <a:solidFill>
                  <a:srgbClr val="E5E0DF"/>
                </a:solidFill>
                <a:latin typeface="Roboto Light" pitchFamily="34" charset="0"/>
                <a:ea typeface="Roboto Light" pitchFamily="34" charset="-122"/>
                <a:cs typeface="Roboto Light" pitchFamily="34" charset="-120"/>
              </a:rPr>
              <a:t>Suggests safest routes for travel</a:t>
            </a:r>
            <a:endParaRPr lang="en-US" sz="1650" dirty="0"/>
          </a:p>
        </p:txBody>
      </p:sp>
      <p:sp>
        <p:nvSpPr>
          <p:cNvPr id="13" name="Text 7"/>
          <p:cNvSpPr/>
          <p:nvPr/>
        </p:nvSpPr>
        <p:spPr>
          <a:xfrm>
            <a:off x="742950" y="6291739"/>
            <a:ext cx="7658100" cy="1314926"/>
          </a:xfrm>
          <a:prstGeom prst="rect">
            <a:avLst/>
          </a:prstGeom>
          <a:noFill/>
          <a:ln/>
        </p:spPr>
        <p:txBody>
          <a:bodyPr wrap="square" lIns="0" tIns="0" rIns="0" bIns="0" rtlCol="0" anchor="t"/>
          <a:lstStyle/>
          <a:p>
            <a:pPr marL="0" indent="0" algn="l">
              <a:lnSpc>
                <a:spcPts val="2550"/>
              </a:lnSpc>
              <a:buNone/>
            </a:pPr>
            <a:r>
              <a:rPr lang="en-US" sz="1650" dirty="0">
                <a:solidFill>
                  <a:srgbClr val="E5E0DF"/>
                </a:solidFill>
                <a:latin typeface="Roboto Light" pitchFamily="34" charset="0"/>
                <a:ea typeface="Roboto Light" pitchFamily="34" charset="-122"/>
                <a:cs typeface="Roboto Light" pitchFamily="34" charset="-120"/>
              </a:rPr>
              <a:t>The system provides safer navigation options, particularly valuable during nighttime or in unfamiliar locations. Users receive </a:t>
            </a:r>
            <a:r>
              <a:rPr lang="en-US" sz="1650" b="1" dirty="0">
                <a:solidFill>
                  <a:srgbClr val="E5E0DF"/>
                </a:solidFill>
                <a:latin typeface="Roboto Light" pitchFamily="34" charset="0"/>
                <a:ea typeface="Roboto Light" pitchFamily="34" charset="-122"/>
                <a:cs typeface="Roboto Light" pitchFamily="34" charset="-120"/>
              </a:rPr>
              <a:t>real-time alerts</a:t>
            </a:r>
            <a:r>
              <a:rPr lang="en-US" sz="1650" dirty="0">
                <a:solidFill>
                  <a:srgbClr val="E5E0DF"/>
                </a:solidFill>
                <a:latin typeface="Roboto Light" pitchFamily="34" charset="0"/>
                <a:ea typeface="Roboto Light" pitchFamily="34" charset="-122"/>
                <a:cs typeface="Roboto Light" pitchFamily="34" charset="-120"/>
              </a:rPr>
              <a:t> when approaching high-risk areas, enabling them to remain cautious and take preventive actions.</a:t>
            </a:r>
            <a:endParaRPr lang="en-US" sz="1650" dirty="0"/>
          </a:p>
        </p:txBody>
      </p:sp>
      <p:pic>
        <p:nvPicPr>
          <p:cNvPr id="14" name="Picture 13">
            <a:extLst>
              <a:ext uri="{FF2B5EF4-FFF2-40B4-BE49-F238E27FC236}">
                <a16:creationId xmlns:a16="http://schemas.microsoft.com/office/drawing/2014/main" id="{19B38DE6-E603-BD12-CB47-9B5F7A831C06}"/>
              </a:ext>
            </a:extLst>
          </p:cNvPr>
          <p:cNvPicPr>
            <a:picLocks noChangeAspect="1"/>
          </p:cNvPicPr>
          <p:nvPr/>
        </p:nvPicPr>
        <p:blipFill>
          <a:blip r:embed="rId7"/>
          <a:stretch>
            <a:fillRect/>
          </a:stretch>
        </p:blipFill>
        <p:spPr>
          <a:xfrm>
            <a:off x="12804938" y="103909"/>
            <a:ext cx="1577395" cy="15690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9856" y="589240"/>
            <a:ext cx="10407253" cy="669488"/>
          </a:xfrm>
          <a:prstGeom prst="rect">
            <a:avLst/>
          </a:prstGeom>
          <a:noFill/>
          <a:ln/>
        </p:spPr>
        <p:txBody>
          <a:bodyPr wrap="none" lIns="0" tIns="0" rIns="0" bIns="0" rtlCol="0" anchor="t"/>
          <a:lstStyle/>
          <a:p>
            <a:pPr marL="0" indent="0" algn="l">
              <a:lnSpc>
                <a:spcPts val="5250"/>
              </a:lnSpc>
              <a:buNone/>
            </a:pPr>
            <a:r>
              <a:rPr lang="en-US" sz="4200" dirty="0">
                <a:solidFill>
                  <a:srgbClr val="F2F2F3"/>
                </a:solidFill>
                <a:latin typeface="Poppins Light" pitchFamily="34" charset="0"/>
                <a:ea typeface="Poppins Light" pitchFamily="34" charset="-122"/>
                <a:cs typeface="Poppins Light" pitchFamily="34" charset="-120"/>
              </a:rPr>
              <a:t>Admin Dashboard for Law Enforcement</a:t>
            </a:r>
            <a:endParaRPr lang="en-US" sz="4200" dirty="0"/>
          </a:p>
        </p:txBody>
      </p:sp>
      <p:pic>
        <p:nvPicPr>
          <p:cNvPr id="3" name="Image 0" descr="preencoded.png"/>
          <p:cNvPicPr>
            <a:picLocks noChangeAspect="1"/>
          </p:cNvPicPr>
          <p:nvPr/>
        </p:nvPicPr>
        <p:blipFill>
          <a:blip r:embed="rId3"/>
          <a:stretch>
            <a:fillRect/>
          </a:stretch>
        </p:blipFill>
        <p:spPr>
          <a:xfrm>
            <a:off x="749856" y="1789986"/>
            <a:ext cx="4255889" cy="5674519"/>
          </a:xfrm>
          <a:prstGeom prst="rect">
            <a:avLst/>
          </a:prstGeom>
        </p:spPr>
      </p:pic>
      <p:sp>
        <p:nvSpPr>
          <p:cNvPr id="4" name="Text 1"/>
          <p:cNvSpPr/>
          <p:nvPr/>
        </p:nvSpPr>
        <p:spPr>
          <a:xfrm>
            <a:off x="5536049" y="2824758"/>
            <a:ext cx="5211723" cy="401598"/>
          </a:xfrm>
          <a:prstGeom prst="rect">
            <a:avLst/>
          </a:prstGeom>
          <a:noFill/>
          <a:ln/>
        </p:spPr>
        <p:txBody>
          <a:bodyPr wrap="none" lIns="0" tIns="0" rIns="0" bIns="0" rtlCol="0" anchor="t"/>
          <a:lstStyle/>
          <a:p>
            <a:pPr marL="0" indent="0" algn="l">
              <a:lnSpc>
                <a:spcPts val="3150"/>
              </a:lnSpc>
              <a:buNone/>
            </a:pPr>
            <a:r>
              <a:rPr lang="en-US" sz="2500" dirty="0">
                <a:solidFill>
                  <a:srgbClr val="F2F2F3"/>
                </a:solidFill>
                <a:latin typeface="Poppins Light" pitchFamily="34" charset="0"/>
                <a:ea typeface="Poppins Light" pitchFamily="34" charset="-122"/>
                <a:cs typeface="Poppins Light" pitchFamily="34" charset="-120"/>
              </a:rPr>
              <a:t>Comprehensive Monitoring Tools</a:t>
            </a:r>
            <a:endParaRPr lang="en-US" sz="2500" dirty="0"/>
          </a:p>
        </p:txBody>
      </p:sp>
      <p:sp>
        <p:nvSpPr>
          <p:cNvPr id="5" name="Text 2"/>
          <p:cNvSpPr/>
          <p:nvPr/>
        </p:nvSpPr>
        <p:spPr>
          <a:xfrm>
            <a:off x="5536049" y="3428762"/>
            <a:ext cx="8351996" cy="1000125"/>
          </a:xfrm>
          <a:prstGeom prst="rect">
            <a:avLst/>
          </a:prstGeom>
          <a:noFill/>
          <a:ln/>
        </p:spPr>
        <p:txBody>
          <a:bodyPr wrap="square" lIns="0" tIns="0" rIns="0" bIns="0" rtlCol="0" anchor="t"/>
          <a:lstStyle/>
          <a:p>
            <a:pPr marL="0" indent="0" algn="l">
              <a:lnSpc>
                <a:spcPts val="2600"/>
              </a:lnSpc>
              <a:buNone/>
            </a:pPr>
            <a:r>
              <a:rPr lang="en-US" sz="1650" dirty="0">
                <a:solidFill>
                  <a:srgbClr val="E5E0DF"/>
                </a:solidFill>
                <a:latin typeface="Roboto Light" pitchFamily="34" charset="0"/>
                <a:ea typeface="Roboto Light" pitchFamily="34" charset="-122"/>
                <a:cs typeface="Roboto Light" pitchFamily="34" charset="-120"/>
              </a:rPr>
              <a:t>Police departments and security agencies gain powerful capabilities to monitor crime trends and patterns efficiently. The dashboard enables easy report preparation for strategic planning.</a:t>
            </a:r>
            <a:endParaRPr lang="en-US" sz="1650" dirty="0"/>
          </a:p>
        </p:txBody>
      </p:sp>
      <p:sp>
        <p:nvSpPr>
          <p:cNvPr id="6" name="Text 3"/>
          <p:cNvSpPr/>
          <p:nvPr/>
        </p:nvSpPr>
        <p:spPr>
          <a:xfrm>
            <a:off x="5536049" y="4611053"/>
            <a:ext cx="8351996" cy="1950244"/>
          </a:xfrm>
          <a:prstGeom prst="rect">
            <a:avLst/>
          </a:prstGeom>
          <a:noFill/>
          <a:ln/>
        </p:spPr>
        <p:txBody>
          <a:bodyPr wrap="square" lIns="0" tIns="0" rIns="0" bIns="0" rtlCol="0" anchor="t"/>
          <a:lstStyle/>
          <a:p>
            <a:pPr marL="342900" indent="-342900" algn="l">
              <a:lnSpc>
                <a:spcPts val="2600"/>
              </a:lnSpc>
              <a:buSzPct val="100000"/>
              <a:buChar char="•"/>
            </a:pPr>
            <a:r>
              <a:rPr lang="en-US" sz="1650" dirty="0">
                <a:solidFill>
                  <a:srgbClr val="E5E0DF"/>
                </a:solidFill>
                <a:latin typeface="Roboto Light" pitchFamily="34" charset="0"/>
                <a:ea typeface="Roboto Light" pitchFamily="34" charset="-122"/>
                <a:cs typeface="Roboto Light" pitchFamily="34" charset="-120"/>
              </a:rPr>
              <a:t>Real-time crime pattern visualization</a:t>
            </a:r>
            <a:endParaRPr lang="en-US" sz="1650" dirty="0"/>
          </a:p>
          <a:p>
            <a:pPr marL="342900" indent="-342900" algn="l">
              <a:lnSpc>
                <a:spcPts val="2600"/>
              </a:lnSpc>
              <a:buSzPct val="100000"/>
              <a:buChar char="•"/>
            </a:pPr>
            <a:r>
              <a:rPr lang="en-US" sz="1650" dirty="0">
                <a:solidFill>
                  <a:srgbClr val="E5E0DF"/>
                </a:solidFill>
                <a:latin typeface="Roboto Light" pitchFamily="34" charset="0"/>
                <a:ea typeface="Roboto Light" pitchFamily="34" charset="-122"/>
                <a:cs typeface="Roboto Light" pitchFamily="34" charset="-120"/>
              </a:rPr>
              <a:t>Historical trend analysis</a:t>
            </a:r>
            <a:endParaRPr lang="en-US" sz="1650" dirty="0"/>
          </a:p>
          <a:p>
            <a:pPr marL="342900" indent="-342900" algn="l">
              <a:lnSpc>
                <a:spcPts val="2600"/>
              </a:lnSpc>
              <a:buSzPct val="100000"/>
              <a:buChar char="•"/>
            </a:pPr>
            <a:r>
              <a:rPr lang="en-US" sz="1650" dirty="0">
                <a:solidFill>
                  <a:srgbClr val="E5E0DF"/>
                </a:solidFill>
                <a:latin typeface="Roboto Light" pitchFamily="34" charset="0"/>
                <a:ea typeface="Roboto Light" pitchFamily="34" charset="-122"/>
                <a:cs typeface="Roboto Light" pitchFamily="34" charset="-120"/>
              </a:rPr>
              <a:t>Automated report generation</a:t>
            </a:r>
            <a:endParaRPr lang="en-US" sz="1650" dirty="0"/>
          </a:p>
          <a:p>
            <a:pPr marL="342900" indent="-342900" algn="l">
              <a:lnSpc>
                <a:spcPts val="2600"/>
              </a:lnSpc>
              <a:buSzPct val="100000"/>
              <a:buChar char="•"/>
            </a:pPr>
            <a:r>
              <a:rPr lang="en-US" sz="1650" dirty="0">
                <a:solidFill>
                  <a:srgbClr val="E5E0DF"/>
                </a:solidFill>
                <a:latin typeface="Roboto Light" pitchFamily="34" charset="0"/>
                <a:ea typeface="Roboto Light" pitchFamily="34" charset="-122"/>
                <a:cs typeface="Roboto Light" pitchFamily="34" charset="-120"/>
              </a:rPr>
              <a:t>Patrol route optimization</a:t>
            </a:r>
            <a:endParaRPr lang="en-US" sz="1650" dirty="0"/>
          </a:p>
          <a:p>
            <a:pPr marL="342900" indent="-342900" algn="l">
              <a:lnSpc>
                <a:spcPts val="2600"/>
              </a:lnSpc>
              <a:buSzPct val="100000"/>
              <a:buChar char="•"/>
            </a:pPr>
            <a:r>
              <a:rPr lang="en-US" sz="1650" dirty="0">
                <a:solidFill>
                  <a:srgbClr val="E5E0DF"/>
                </a:solidFill>
                <a:latin typeface="Roboto Light" pitchFamily="34" charset="0"/>
                <a:ea typeface="Roboto Light" pitchFamily="34" charset="-122"/>
                <a:cs typeface="Roboto Light" pitchFamily="34" charset="-120"/>
              </a:rPr>
              <a:t>Resource allocation insights</a:t>
            </a:r>
            <a:endParaRPr lang="en-US" sz="1650" dirty="0"/>
          </a:p>
        </p:txBody>
      </p:sp>
      <p:sp>
        <p:nvSpPr>
          <p:cNvPr id="7" name="Rectangle 6">
            <a:extLst>
              <a:ext uri="{FF2B5EF4-FFF2-40B4-BE49-F238E27FC236}">
                <a16:creationId xmlns:a16="http://schemas.microsoft.com/office/drawing/2014/main" id="{8E28C325-A015-D4ED-2D39-A6D1F37F0AB2}"/>
              </a:ext>
            </a:extLst>
          </p:cNvPr>
          <p:cNvSpPr/>
          <p:nvPr/>
        </p:nvSpPr>
        <p:spPr>
          <a:xfrm>
            <a:off x="12708081" y="7512627"/>
            <a:ext cx="1839191" cy="613064"/>
          </a:xfrm>
          <a:prstGeom prst="rect">
            <a:avLst/>
          </a:prstGeom>
          <a:solidFill>
            <a:srgbClr val="050505"/>
          </a:solidFill>
          <a:ln>
            <a:solidFill>
              <a:srgbClr val="0505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BFDDE56-57C8-718D-D9D7-687553DE6F5A}"/>
              </a:ext>
            </a:extLst>
          </p:cNvPr>
          <p:cNvPicPr>
            <a:picLocks noChangeAspect="1"/>
          </p:cNvPicPr>
          <p:nvPr/>
        </p:nvPicPr>
        <p:blipFill>
          <a:blip r:embed="rId4"/>
          <a:stretch>
            <a:fillRect/>
          </a:stretch>
        </p:blipFill>
        <p:spPr>
          <a:xfrm>
            <a:off x="12804938" y="103909"/>
            <a:ext cx="1577395" cy="15690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56258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Strategic Benefits</a:t>
            </a:r>
            <a:endParaRPr lang="en-US" sz="44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724989"/>
            <a:ext cx="680442" cy="680442"/>
          </a:xfrm>
          <a:prstGeom prst="rect">
            <a:avLst/>
          </a:prstGeom>
        </p:spPr>
      </p:pic>
      <p:sp>
        <p:nvSpPr>
          <p:cNvPr id="4" name="Text 1"/>
          <p:cNvSpPr/>
          <p:nvPr/>
        </p:nvSpPr>
        <p:spPr>
          <a:xfrm>
            <a:off x="1757720" y="3724989"/>
            <a:ext cx="2860358"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Proactive Prevention</a:t>
            </a:r>
            <a:endParaRPr lang="en-US" sz="2200" dirty="0"/>
          </a:p>
        </p:txBody>
      </p:sp>
      <p:sp>
        <p:nvSpPr>
          <p:cNvPr id="5" name="Text 2"/>
          <p:cNvSpPr/>
          <p:nvPr/>
        </p:nvSpPr>
        <p:spPr>
          <a:xfrm>
            <a:off x="1757720" y="4215408"/>
            <a:ext cx="3194685"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Shift from reactive response to preventive measures through predictive analytics and early warning systems</a:t>
            </a:r>
            <a:endParaRPr lang="en-US" sz="17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893" y="3724989"/>
            <a:ext cx="680442" cy="680442"/>
          </a:xfrm>
          <a:prstGeom prst="rect">
            <a:avLst/>
          </a:prstGeom>
        </p:spPr>
      </p:pic>
      <p:sp>
        <p:nvSpPr>
          <p:cNvPr id="7" name="Text 3"/>
          <p:cNvSpPr/>
          <p:nvPr/>
        </p:nvSpPr>
        <p:spPr>
          <a:xfrm>
            <a:off x="6199823" y="3724989"/>
            <a:ext cx="3156823"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Resource Optimization</a:t>
            </a:r>
            <a:endParaRPr lang="en-US" sz="2200" dirty="0"/>
          </a:p>
        </p:txBody>
      </p:sp>
      <p:sp>
        <p:nvSpPr>
          <p:cNvPr id="8" name="Text 4"/>
          <p:cNvSpPr/>
          <p:nvPr/>
        </p:nvSpPr>
        <p:spPr>
          <a:xfrm>
            <a:off x="6199823" y="4215408"/>
            <a:ext cx="3194685"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Deploy law enforcement resources more effectively by focusing on predicted high-risk areas and times</a:t>
            </a:r>
            <a:endParaRPr lang="en-US" sz="17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7995" y="3724989"/>
            <a:ext cx="680442" cy="680442"/>
          </a:xfrm>
          <a:prstGeom prst="rect">
            <a:avLst/>
          </a:prstGeom>
        </p:spPr>
      </p:pic>
      <p:sp>
        <p:nvSpPr>
          <p:cNvPr id="10" name="Text 5"/>
          <p:cNvSpPr/>
          <p:nvPr/>
        </p:nvSpPr>
        <p:spPr>
          <a:xfrm>
            <a:off x="10641925" y="3724989"/>
            <a:ext cx="2972872"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Public Empowerment</a:t>
            </a:r>
            <a:endParaRPr lang="en-US" sz="2200" dirty="0"/>
          </a:p>
        </p:txBody>
      </p:sp>
      <p:sp>
        <p:nvSpPr>
          <p:cNvPr id="11" name="Text 6"/>
          <p:cNvSpPr/>
          <p:nvPr/>
        </p:nvSpPr>
        <p:spPr>
          <a:xfrm>
            <a:off x="10641925" y="4215408"/>
            <a:ext cx="3194685"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Enable citizens to make informed decisions about travel routes and neighborhood safety through accessible data</a:t>
            </a:r>
            <a:endParaRPr lang="en-US" sz="1750" dirty="0"/>
          </a:p>
        </p:txBody>
      </p:sp>
      <p:sp>
        <p:nvSpPr>
          <p:cNvPr id="12" name="Rectangle 11">
            <a:extLst>
              <a:ext uri="{FF2B5EF4-FFF2-40B4-BE49-F238E27FC236}">
                <a16:creationId xmlns:a16="http://schemas.microsoft.com/office/drawing/2014/main" id="{A3836DB2-A051-4D20-5D6B-DE8EAE9D299A}"/>
              </a:ext>
            </a:extLst>
          </p:cNvPr>
          <p:cNvSpPr/>
          <p:nvPr/>
        </p:nvSpPr>
        <p:spPr>
          <a:xfrm>
            <a:off x="12708081" y="7512627"/>
            <a:ext cx="1839191" cy="613064"/>
          </a:xfrm>
          <a:prstGeom prst="rect">
            <a:avLst/>
          </a:prstGeom>
          <a:solidFill>
            <a:srgbClr val="050505"/>
          </a:solidFill>
          <a:ln>
            <a:solidFill>
              <a:srgbClr val="0505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5214509D-D711-9706-CD3A-1418087145DD}"/>
              </a:ext>
            </a:extLst>
          </p:cNvPr>
          <p:cNvPicPr>
            <a:picLocks noChangeAspect="1"/>
          </p:cNvPicPr>
          <p:nvPr/>
        </p:nvPicPr>
        <p:blipFill>
          <a:blip r:embed="rId9"/>
          <a:stretch>
            <a:fillRect/>
          </a:stretch>
        </p:blipFill>
        <p:spPr>
          <a:xfrm>
            <a:off x="12804938" y="103909"/>
            <a:ext cx="1577395" cy="15690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91166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Technology Stack</a:t>
            </a:r>
            <a:endParaRPr lang="en-US" sz="4450" dirty="0"/>
          </a:p>
        </p:txBody>
      </p:sp>
      <p:sp>
        <p:nvSpPr>
          <p:cNvPr id="4" name="Shape 1"/>
          <p:cNvSpPr/>
          <p:nvPr/>
        </p:nvSpPr>
        <p:spPr>
          <a:xfrm>
            <a:off x="793790" y="1960602"/>
            <a:ext cx="3664744" cy="2923818"/>
          </a:xfrm>
          <a:prstGeom prst="roundRect">
            <a:avLst>
              <a:gd name="adj" fmla="val 3258"/>
            </a:avLst>
          </a:prstGeom>
          <a:solidFill>
            <a:srgbClr val="3D3D42"/>
          </a:solidFill>
          <a:ln w="7620">
            <a:solidFill>
              <a:srgbClr val="56565B"/>
            </a:solidFill>
            <a:prstDash val="solid"/>
          </a:ln>
        </p:spPr>
      </p:sp>
      <p:sp>
        <p:nvSpPr>
          <p:cNvPr id="5" name="Text 2"/>
          <p:cNvSpPr/>
          <p:nvPr/>
        </p:nvSpPr>
        <p:spPr>
          <a:xfrm>
            <a:off x="1028224" y="2195036"/>
            <a:ext cx="3195876" cy="708660"/>
          </a:xfrm>
          <a:prstGeom prst="rect">
            <a:avLst/>
          </a:prstGeom>
          <a:noFill/>
          <a:ln/>
        </p:spPr>
        <p:txBody>
          <a:bodyPr wrap="squar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Machine Learning Models</a:t>
            </a:r>
            <a:endParaRPr lang="en-US" sz="2200" dirty="0"/>
          </a:p>
        </p:txBody>
      </p:sp>
      <p:sp>
        <p:nvSpPr>
          <p:cNvPr id="6" name="Text 3"/>
          <p:cNvSpPr/>
          <p:nvPr/>
        </p:nvSpPr>
        <p:spPr>
          <a:xfrm>
            <a:off x="1028224" y="3039785"/>
            <a:ext cx="3195876" cy="16102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E0DF"/>
                </a:solidFill>
                <a:latin typeface="Roboto Light" pitchFamily="34" charset="0"/>
                <a:ea typeface="Roboto Light" pitchFamily="34" charset="-122"/>
                <a:cs typeface="Roboto Light" pitchFamily="34" charset="-120"/>
              </a:rPr>
              <a:t>Pattern recognition algorithms</a:t>
            </a:r>
            <a:endParaRPr lang="en-US" sz="1750" dirty="0"/>
          </a:p>
          <a:p>
            <a:pPr marL="342900" indent="-342900" algn="l">
              <a:lnSpc>
                <a:spcPts val="2850"/>
              </a:lnSpc>
              <a:buSzPct val="100000"/>
              <a:buChar char="•"/>
            </a:pPr>
            <a:r>
              <a:rPr lang="en-US" sz="1750" dirty="0">
                <a:solidFill>
                  <a:srgbClr val="E5E0DF"/>
                </a:solidFill>
                <a:latin typeface="Roboto Light" pitchFamily="34" charset="0"/>
                <a:ea typeface="Roboto Light" pitchFamily="34" charset="-122"/>
                <a:cs typeface="Roboto Light" pitchFamily="34" charset="-120"/>
              </a:rPr>
              <a:t>Predictive analytics engines</a:t>
            </a:r>
            <a:endParaRPr lang="en-US" sz="1750" dirty="0"/>
          </a:p>
          <a:p>
            <a:pPr marL="342900" indent="-342900" algn="l">
              <a:lnSpc>
                <a:spcPts val="2850"/>
              </a:lnSpc>
              <a:buSzPct val="100000"/>
              <a:buChar char="•"/>
            </a:pPr>
            <a:r>
              <a:rPr lang="en-US" sz="1750" dirty="0">
                <a:solidFill>
                  <a:srgbClr val="E5E0DF"/>
                </a:solidFill>
                <a:latin typeface="Roboto Light" pitchFamily="34" charset="0"/>
                <a:ea typeface="Roboto Light" pitchFamily="34" charset="-122"/>
                <a:cs typeface="Roboto Light" pitchFamily="34" charset="-120"/>
              </a:rPr>
              <a:t>Trend detection systems</a:t>
            </a:r>
            <a:endParaRPr lang="en-US" sz="1750" dirty="0"/>
          </a:p>
        </p:txBody>
      </p:sp>
      <p:sp>
        <p:nvSpPr>
          <p:cNvPr id="7" name="Shape 4"/>
          <p:cNvSpPr/>
          <p:nvPr/>
        </p:nvSpPr>
        <p:spPr>
          <a:xfrm>
            <a:off x="4685348" y="1960602"/>
            <a:ext cx="3664863" cy="2923818"/>
          </a:xfrm>
          <a:prstGeom prst="roundRect">
            <a:avLst>
              <a:gd name="adj" fmla="val 3258"/>
            </a:avLst>
          </a:prstGeom>
          <a:solidFill>
            <a:srgbClr val="3D3D42"/>
          </a:solidFill>
          <a:ln w="7620">
            <a:solidFill>
              <a:srgbClr val="56565B"/>
            </a:solidFill>
            <a:prstDash val="solid"/>
          </a:ln>
        </p:spPr>
      </p:sp>
      <p:sp>
        <p:nvSpPr>
          <p:cNvPr id="8" name="Text 5"/>
          <p:cNvSpPr/>
          <p:nvPr/>
        </p:nvSpPr>
        <p:spPr>
          <a:xfrm>
            <a:off x="4919782" y="2195036"/>
            <a:ext cx="2859286"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Mapping Integration</a:t>
            </a:r>
            <a:endParaRPr lang="en-US" sz="2200" dirty="0"/>
          </a:p>
        </p:txBody>
      </p:sp>
      <p:sp>
        <p:nvSpPr>
          <p:cNvPr id="9" name="Text 6"/>
          <p:cNvSpPr/>
          <p:nvPr/>
        </p:nvSpPr>
        <p:spPr>
          <a:xfrm>
            <a:off x="4919782" y="2685455"/>
            <a:ext cx="3195995"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E0DF"/>
                </a:solidFill>
                <a:latin typeface="Roboto Light" pitchFamily="34" charset="0"/>
                <a:ea typeface="Roboto Light" pitchFamily="34" charset="-122"/>
                <a:cs typeface="Roboto Light" pitchFamily="34" charset="-120"/>
              </a:rPr>
              <a:t>Google Maps API</a:t>
            </a:r>
            <a:endParaRPr lang="en-US" sz="1750" dirty="0"/>
          </a:p>
          <a:p>
            <a:pPr marL="342900" indent="-342900" algn="l">
              <a:lnSpc>
                <a:spcPts val="2850"/>
              </a:lnSpc>
              <a:buSzPct val="100000"/>
              <a:buChar char="•"/>
            </a:pPr>
            <a:r>
              <a:rPr lang="en-US" sz="1750" dirty="0">
                <a:solidFill>
                  <a:srgbClr val="E5E0DF"/>
                </a:solidFill>
                <a:latin typeface="Roboto Light" pitchFamily="34" charset="0"/>
                <a:ea typeface="Roboto Light" pitchFamily="34" charset="-122"/>
                <a:cs typeface="Roboto Light" pitchFamily="34" charset="-120"/>
              </a:rPr>
              <a:t>Mapbox visualization</a:t>
            </a:r>
            <a:endParaRPr lang="en-US" sz="1750" dirty="0"/>
          </a:p>
          <a:p>
            <a:pPr marL="342900" indent="-342900" algn="l">
              <a:lnSpc>
                <a:spcPts val="2850"/>
              </a:lnSpc>
              <a:buSzPct val="100000"/>
              <a:buChar char="•"/>
            </a:pPr>
            <a:r>
              <a:rPr lang="en-US" sz="1750" dirty="0">
                <a:solidFill>
                  <a:srgbClr val="E5E0DF"/>
                </a:solidFill>
                <a:latin typeface="Roboto Light" pitchFamily="34" charset="0"/>
                <a:ea typeface="Roboto Light" pitchFamily="34" charset="-122"/>
                <a:cs typeface="Roboto Light" pitchFamily="34" charset="-120"/>
              </a:rPr>
              <a:t>Interactive layer controls</a:t>
            </a:r>
            <a:endParaRPr lang="en-US" sz="1750" dirty="0"/>
          </a:p>
        </p:txBody>
      </p:sp>
      <p:sp>
        <p:nvSpPr>
          <p:cNvPr id="10" name="Shape 7"/>
          <p:cNvSpPr/>
          <p:nvPr/>
        </p:nvSpPr>
        <p:spPr>
          <a:xfrm>
            <a:off x="793790" y="5111234"/>
            <a:ext cx="7556421" cy="2206585"/>
          </a:xfrm>
          <a:prstGeom prst="roundRect">
            <a:avLst>
              <a:gd name="adj" fmla="val 4317"/>
            </a:avLst>
          </a:prstGeom>
          <a:solidFill>
            <a:srgbClr val="3D3D42"/>
          </a:solidFill>
          <a:ln w="7620">
            <a:solidFill>
              <a:srgbClr val="56565B"/>
            </a:solidFill>
            <a:prstDash val="solid"/>
          </a:ln>
        </p:spPr>
      </p:sp>
      <p:sp>
        <p:nvSpPr>
          <p:cNvPr id="11" name="Text 8"/>
          <p:cNvSpPr/>
          <p:nvPr/>
        </p:nvSpPr>
        <p:spPr>
          <a:xfrm>
            <a:off x="1028224" y="534566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Data Infrastructure</a:t>
            </a:r>
            <a:endParaRPr lang="en-US" sz="2200" dirty="0"/>
          </a:p>
        </p:txBody>
      </p:sp>
      <p:sp>
        <p:nvSpPr>
          <p:cNvPr id="12" name="Text 9"/>
          <p:cNvSpPr/>
          <p:nvPr/>
        </p:nvSpPr>
        <p:spPr>
          <a:xfrm>
            <a:off x="1028224" y="5836087"/>
            <a:ext cx="7087553"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E0DF"/>
                </a:solidFill>
                <a:latin typeface="Roboto Light" pitchFamily="34" charset="0"/>
                <a:ea typeface="Roboto Light" pitchFamily="34" charset="-122"/>
                <a:cs typeface="Roboto Light" pitchFamily="34" charset="-120"/>
              </a:rPr>
              <a:t>Historical crime databases</a:t>
            </a:r>
            <a:endParaRPr lang="en-US" sz="1750" dirty="0"/>
          </a:p>
          <a:p>
            <a:pPr marL="342900" indent="-342900" algn="l">
              <a:lnSpc>
                <a:spcPts val="2850"/>
              </a:lnSpc>
              <a:buSzPct val="100000"/>
              <a:buChar char="•"/>
            </a:pPr>
            <a:r>
              <a:rPr lang="en-US" sz="1750" dirty="0">
                <a:solidFill>
                  <a:srgbClr val="E5E0DF"/>
                </a:solidFill>
                <a:latin typeface="Roboto Light" pitchFamily="34" charset="0"/>
                <a:ea typeface="Roboto Light" pitchFamily="34" charset="-122"/>
                <a:cs typeface="Roboto Light" pitchFamily="34" charset="-120"/>
              </a:rPr>
              <a:t>Real-time data feeds</a:t>
            </a:r>
            <a:endParaRPr lang="en-US" sz="1750" dirty="0"/>
          </a:p>
          <a:p>
            <a:pPr marL="342900" indent="-342900" algn="l">
              <a:lnSpc>
                <a:spcPts val="2850"/>
              </a:lnSpc>
              <a:buSzPct val="100000"/>
              <a:buChar char="•"/>
            </a:pPr>
            <a:r>
              <a:rPr lang="en-US" sz="1750" dirty="0">
                <a:solidFill>
                  <a:srgbClr val="E5E0DF"/>
                </a:solidFill>
                <a:latin typeface="Roboto Light" pitchFamily="34" charset="0"/>
                <a:ea typeface="Roboto Light" pitchFamily="34" charset="-122"/>
                <a:cs typeface="Roboto Light" pitchFamily="34" charset="-120"/>
              </a:rPr>
              <a:t>Analytics processing pipeline</a:t>
            </a:r>
            <a:endParaRPr lang="en-US" sz="1750" dirty="0"/>
          </a:p>
        </p:txBody>
      </p:sp>
      <p:pic>
        <p:nvPicPr>
          <p:cNvPr id="13" name="Picture 12">
            <a:extLst>
              <a:ext uri="{FF2B5EF4-FFF2-40B4-BE49-F238E27FC236}">
                <a16:creationId xmlns:a16="http://schemas.microsoft.com/office/drawing/2014/main" id="{86B13AD0-2B9B-FCEF-A834-1DDEAC22509D}"/>
              </a:ext>
            </a:extLst>
          </p:cNvPr>
          <p:cNvPicPr>
            <a:picLocks noChangeAspect="1"/>
          </p:cNvPicPr>
          <p:nvPr/>
        </p:nvPicPr>
        <p:blipFill>
          <a:blip r:embed="rId4"/>
          <a:stretch>
            <a:fillRect/>
          </a:stretch>
        </p:blipFill>
        <p:spPr>
          <a:xfrm>
            <a:off x="12804938" y="103909"/>
            <a:ext cx="1577395" cy="15690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5333" y="824508"/>
            <a:ext cx="7104936" cy="674489"/>
          </a:xfrm>
          <a:prstGeom prst="rect">
            <a:avLst/>
          </a:prstGeom>
          <a:noFill/>
          <a:ln/>
        </p:spPr>
        <p:txBody>
          <a:bodyPr wrap="none" lIns="0" tIns="0" rIns="0" bIns="0" rtlCol="0" anchor="t"/>
          <a:lstStyle/>
          <a:p>
            <a:pPr marL="0" indent="0" algn="l">
              <a:lnSpc>
                <a:spcPts val="5300"/>
              </a:lnSpc>
              <a:buNone/>
            </a:pPr>
            <a:r>
              <a:rPr lang="en-US" sz="4200" dirty="0">
                <a:solidFill>
                  <a:srgbClr val="F2F2F3"/>
                </a:solidFill>
                <a:latin typeface="Poppins Light" pitchFamily="34" charset="0"/>
                <a:ea typeface="Poppins Light" pitchFamily="34" charset="-122"/>
                <a:cs typeface="Poppins Light" pitchFamily="34" charset="-120"/>
              </a:rPr>
              <a:t>Implementation Roadmap</a:t>
            </a:r>
            <a:endParaRPr lang="en-US" sz="4200" dirty="0"/>
          </a:p>
        </p:txBody>
      </p:sp>
      <p:sp>
        <p:nvSpPr>
          <p:cNvPr id="3" name="Shape 1"/>
          <p:cNvSpPr/>
          <p:nvPr/>
        </p:nvSpPr>
        <p:spPr>
          <a:xfrm>
            <a:off x="755333" y="3907155"/>
            <a:ext cx="13119735" cy="30480"/>
          </a:xfrm>
          <a:prstGeom prst="roundRect">
            <a:avLst>
              <a:gd name="adj" fmla="val 297412"/>
            </a:avLst>
          </a:prstGeom>
          <a:solidFill>
            <a:srgbClr val="56565B"/>
          </a:solidFill>
          <a:ln/>
        </p:spPr>
      </p:sp>
      <p:sp>
        <p:nvSpPr>
          <p:cNvPr id="4" name="Shape 2"/>
          <p:cNvSpPr/>
          <p:nvPr/>
        </p:nvSpPr>
        <p:spPr>
          <a:xfrm>
            <a:off x="3286958" y="3259693"/>
            <a:ext cx="30480" cy="647462"/>
          </a:xfrm>
          <a:prstGeom prst="roundRect">
            <a:avLst>
              <a:gd name="adj" fmla="val 297412"/>
            </a:avLst>
          </a:prstGeom>
          <a:solidFill>
            <a:srgbClr val="56565B"/>
          </a:solidFill>
          <a:ln/>
        </p:spPr>
      </p:sp>
      <p:sp>
        <p:nvSpPr>
          <p:cNvPr id="5" name="Shape 3"/>
          <p:cNvSpPr/>
          <p:nvPr/>
        </p:nvSpPr>
        <p:spPr>
          <a:xfrm>
            <a:off x="3059430" y="3664387"/>
            <a:ext cx="485537" cy="485537"/>
          </a:xfrm>
          <a:prstGeom prst="roundRect">
            <a:avLst>
              <a:gd name="adj" fmla="val 18670"/>
            </a:avLst>
          </a:prstGeom>
          <a:solidFill>
            <a:srgbClr val="3D3D42"/>
          </a:solidFill>
          <a:ln w="7620">
            <a:solidFill>
              <a:srgbClr val="56565B"/>
            </a:solidFill>
            <a:prstDash val="solid"/>
          </a:ln>
        </p:spPr>
      </p:sp>
      <p:sp>
        <p:nvSpPr>
          <p:cNvPr id="6" name="Text 4"/>
          <p:cNvSpPr/>
          <p:nvPr/>
        </p:nvSpPr>
        <p:spPr>
          <a:xfrm>
            <a:off x="3140333" y="3704868"/>
            <a:ext cx="323731" cy="404574"/>
          </a:xfrm>
          <a:prstGeom prst="rect">
            <a:avLst/>
          </a:prstGeom>
          <a:noFill/>
          <a:ln/>
        </p:spPr>
        <p:txBody>
          <a:bodyPr wrap="none" lIns="0" tIns="0" rIns="0" bIns="0" rtlCol="0" anchor="t"/>
          <a:lstStyle/>
          <a:p>
            <a:pPr marL="0" indent="0" algn="ctr">
              <a:lnSpc>
                <a:spcPts val="2500"/>
              </a:lnSpc>
              <a:buNone/>
            </a:pPr>
            <a:r>
              <a:rPr lang="en-US" sz="2500" dirty="0">
                <a:solidFill>
                  <a:srgbClr val="E5E0DF"/>
                </a:solidFill>
                <a:latin typeface="Poppins Light" pitchFamily="34" charset="0"/>
                <a:ea typeface="Poppins Light" pitchFamily="34" charset="-122"/>
                <a:cs typeface="Poppins Light" pitchFamily="34" charset="-120"/>
              </a:rPr>
              <a:t>1</a:t>
            </a:r>
            <a:endParaRPr lang="en-US" sz="2500" dirty="0"/>
          </a:p>
        </p:txBody>
      </p:sp>
      <p:sp>
        <p:nvSpPr>
          <p:cNvPr id="7" name="Text 5"/>
          <p:cNvSpPr/>
          <p:nvPr/>
        </p:nvSpPr>
        <p:spPr>
          <a:xfrm>
            <a:off x="1666994" y="1909643"/>
            <a:ext cx="3270409" cy="337185"/>
          </a:xfrm>
          <a:prstGeom prst="rect">
            <a:avLst/>
          </a:prstGeom>
          <a:noFill/>
          <a:ln/>
        </p:spPr>
        <p:txBody>
          <a:bodyPr wrap="none" lIns="0" tIns="0" rIns="0" bIns="0" rtlCol="0" anchor="t"/>
          <a:lstStyle/>
          <a:p>
            <a:pPr marL="0" indent="0" algn="ctr">
              <a:lnSpc>
                <a:spcPts val="2650"/>
              </a:lnSpc>
              <a:buNone/>
            </a:pPr>
            <a:r>
              <a:rPr lang="en-US" sz="2100" dirty="0">
                <a:solidFill>
                  <a:srgbClr val="E5E0DF"/>
                </a:solidFill>
                <a:latin typeface="Poppins Light" pitchFamily="34" charset="0"/>
                <a:ea typeface="Poppins Light" pitchFamily="34" charset="-122"/>
                <a:cs typeface="Poppins Light" pitchFamily="34" charset="-120"/>
              </a:rPr>
              <a:t>Phase 1: Data Integration</a:t>
            </a:r>
            <a:endParaRPr lang="en-US" sz="2100" dirty="0"/>
          </a:p>
        </p:txBody>
      </p:sp>
      <p:sp>
        <p:nvSpPr>
          <p:cNvPr id="8" name="Text 6"/>
          <p:cNvSpPr/>
          <p:nvPr/>
        </p:nvSpPr>
        <p:spPr>
          <a:xfrm>
            <a:off x="971074" y="2369939"/>
            <a:ext cx="4662368" cy="673894"/>
          </a:xfrm>
          <a:prstGeom prst="rect">
            <a:avLst/>
          </a:prstGeom>
          <a:noFill/>
          <a:ln/>
        </p:spPr>
        <p:txBody>
          <a:bodyPr wrap="square" lIns="0" tIns="0" rIns="0" bIns="0" rtlCol="0" anchor="t"/>
          <a:lstStyle/>
          <a:p>
            <a:pPr marL="0" indent="0" algn="ctr">
              <a:lnSpc>
                <a:spcPts val="2650"/>
              </a:lnSpc>
              <a:buNone/>
            </a:pPr>
            <a:r>
              <a:rPr lang="en-US" sz="1650" dirty="0">
                <a:solidFill>
                  <a:srgbClr val="E5E0DF"/>
                </a:solidFill>
                <a:latin typeface="Roboto Light" pitchFamily="34" charset="0"/>
                <a:ea typeface="Roboto Light" pitchFamily="34" charset="-122"/>
                <a:cs typeface="Roboto Light" pitchFamily="34" charset="-120"/>
              </a:rPr>
              <a:t>Connect historical crime databases and establish data pipelines</a:t>
            </a:r>
            <a:endParaRPr lang="en-US" sz="1650" dirty="0"/>
          </a:p>
        </p:txBody>
      </p:sp>
      <p:sp>
        <p:nvSpPr>
          <p:cNvPr id="9" name="Shape 7"/>
          <p:cNvSpPr/>
          <p:nvPr/>
        </p:nvSpPr>
        <p:spPr>
          <a:xfrm>
            <a:off x="5962174" y="3907155"/>
            <a:ext cx="30480" cy="647462"/>
          </a:xfrm>
          <a:prstGeom prst="roundRect">
            <a:avLst>
              <a:gd name="adj" fmla="val 297412"/>
            </a:avLst>
          </a:prstGeom>
          <a:solidFill>
            <a:srgbClr val="56565B"/>
          </a:solidFill>
          <a:ln/>
        </p:spPr>
      </p:sp>
      <p:sp>
        <p:nvSpPr>
          <p:cNvPr id="10" name="Shape 8"/>
          <p:cNvSpPr/>
          <p:nvPr/>
        </p:nvSpPr>
        <p:spPr>
          <a:xfrm>
            <a:off x="5734645" y="3664387"/>
            <a:ext cx="485537" cy="485537"/>
          </a:xfrm>
          <a:prstGeom prst="roundRect">
            <a:avLst>
              <a:gd name="adj" fmla="val 18670"/>
            </a:avLst>
          </a:prstGeom>
          <a:solidFill>
            <a:srgbClr val="3D3D42"/>
          </a:solidFill>
          <a:ln w="7620">
            <a:solidFill>
              <a:srgbClr val="56565B"/>
            </a:solidFill>
            <a:prstDash val="solid"/>
          </a:ln>
        </p:spPr>
      </p:sp>
      <p:sp>
        <p:nvSpPr>
          <p:cNvPr id="11" name="Text 9"/>
          <p:cNvSpPr/>
          <p:nvPr/>
        </p:nvSpPr>
        <p:spPr>
          <a:xfrm>
            <a:off x="5815548" y="3704868"/>
            <a:ext cx="323731" cy="404574"/>
          </a:xfrm>
          <a:prstGeom prst="rect">
            <a:avLst/>
          </a:prstGeom>
          <a:noFill/>
          <a:ln/>
        </p:spPr>
        <p:txBody>
          <a:bodyPr wrap="none" lIns="0" tIns="0" rIns="0" bIns="0" rtlCol="0" anchor="t"/>
          <a:lstStyle/>
          <a:p>
            <a:pPr marL="0" indent="0" algn="ctr">
              <a:lnSpc>
                <a:spcPts val="2500"/>
              </a:lnSpc>
              <a:buNone/>
            </a:pPr>
            <a:r>
              <a:rPr lang="en-US" sz="2500" dirty="0">
                <a:solidFill>
                  <a:srgbClr val="E5E0DF"/>
                </a:solidFill>
                <a:latin typeface="Poppins Light" pitchFamily="34" charset="0"/>
                <a:ea typeface="Poppins Light" pitchFamily="34" charset="-122"/>
                <a:cs typeface="Poppins Light" pitchFamily="34" charset="-120"/>
              </a:rPr>
              <a:t>2</a:t>
            </a:r>
            <a:endParaRPr lang="en-US" sz="2500" dirty="0"/>
          </a:p>
        </p:txBody>
      </p:sp>
      <p:sp>
        <p:nvSpPr>
          <p:cNvPr id="12" name="Text 10"/>
          <p:cNvSpPr/>
          <p:nvPr/>
        </p:nvSpPr>
        <p:spPr>
          <a:xfrm>
            <a:off x="4420195" y="4770477"/>
            <a:ext cx="3114556" cy="337185"/>
          </a:xfrm>
          <a:prstGeom prst="rect">
            <a:avLst/>
          </a:prstGeom>
          <a:noFill/>
          <a:ln/>
        </p:spPr>
        <p:txBody>
          <a:bodyPr wrap="none" lIns="0" tIns="0" rIns="0" bIns="0" rtlCol="0" anchor="t"/>
          <a:lstStyle/>
          <a:p>
            <a:pPr marL="0" indent="0" algn="ctr">
              <a:lnSpc>
                <a:spcPts val="2650"/>
              </a:lnSpc>
              <a:buNone/>
            </a:pPr>
            <a:r>
              <a:rPr lang="en-US" sz="2100" dirty="0">
                <a:solidFill>
                  <a:srgbClr val="E5E0DF"/>
                </a:solidFill>
                <a:latin typeface="Poppins Light" pitchFamily="34" charset="0"/>
                <a:ea typeface="Poppins Light" pitchFamily="34" charset="-122"/>
                <a:cs typeface="Poppins Light" pitchFamily="34" charset="-120"/>
              </a:rPr>
              <a:t>Phase 2: Model Training</a:t>
            </a:r>
            <a:endParaRPr lang="en-US" sz="2100" dirty="0"/>
          </a:p>
        </p:txBody>
      </p:sp>
      <p:sp>
        <p:nvSpPr>
          <p:cNvPr id="13" name="Text 11"/>
          <p:cNvSpPr/>
          <p:nvPr/>
        </p:nvSpPr>
        <p:spPr>
          <a:xfrm>
            <a:off x="3646289" y="5230773"/>
            <a:ext cx="4662368" cy="673894"/>
          </a:xfrm>
          <a:prstGeom prst="rect">
            <a:avLst/>
          </a:prstGeom>
          <a:noFill/>
          <a:ln/>
        </p:spPr>
        <p:txBody>
          <a:bodyPr wrap="square" lIns="0" tIns="0" rIns="0" bIns="0" rtlCol="0" anchor="t"/>
          <a:lstStyle/>
          <a:p>
            <a:pPr marL="0" indent="0" algn="ctr">
              <a:lnSpc>
                <a:spcPts val="2650"/>
              </a:lnSpc>
              <a:buNone/>
            </a:pPr>
            <a:r>
              <a:rPr lang="en-US" sz="1650" dirty="0">
                <a:solidFill>
                  <a:srgbClr val="E5E0DF"/>
                </a:solidFill>
                <a:latin typeface="Roboto Light" pitchFamily="34" charset="0"/>
                <a:ea typeface="Roboto Light" pitchFamily="34" charset="-122"/>
                <a:cs typeface="Roboto Light" pitchFamily="34" charset="-120"/>
              </a:rPr>
              <a:t>Train machine learning algorithms on historical patterns</a:t>
            </a:r>
            <a:endParaRPr lang="en-US" sz="1650" dirty="0"/>
          </a:p>
        </p:txBody>
      </p:sp>
      <p:sp>
        <p:nvSpPr>
          <p:cNvPr id="14" name="Shape 12"/>
          <p:cNvSpPr/>
          <p:nvPr/>
        </p:nvSpPr>
        <p:spPr>
          <a:xfrm>
            <a:off x="8637508" y="3259693"/>
            <a:ext cx="30480" cy="647462"/>
          </a:xfrm>
          <a:prstGeom prst="roundRect">
            <a:avLst>
              <a:gd name="adj" fmla="val 297412"/>
            </a:avLst>
          </a:prstGeom>
          <a:solidFill>
            <a:srgbClr val="56565B"/>
          </a:solidFill>
          <a:ln/>
        </p:spPr>
      </p:sp>
      <p:sp>
        <p:nvSpPr>
          <p:cNvPr id="15" name="Shape 13"/>
          <p:cNvSpPr/>
          <p:nvPr/>
        </p:nvSpPr>
        <p:spPr>
          <a:xfrm>
            <a:off x="8409980" y="3664387"/>
            <a:ext cx="485537" cy="485537"/>
          </a:xfrm>
          <a:prstGeom prst="roundRect">
            <a:avLst>
              <a:gd name="adj" fmla="val 18670"/>
            </a:avLst>
          </a:prstGeom>
          <a:solidFill>
            <a:srgbClr val="3D3D42"/>
          </a:solidFill>
          <a:ln w="7620">
            <a:solidFill>
              <a:srgbClr val="56565B"/>
            </a:solidFill>
            <a:prstDash val="solid"/>
          </a:ln>
        </p:spPr>
      </p:sp>
      <p:sp>
        <p:nvSpPr>
          <p:cNvPr id="16" name="Text 14"/>
          <p:cNvSpPr/>
          <p:nvPr/>
        </p:nvSpPr>
        <p:spPr>
          <a:xfrm>
            <a:off x="8490883" y="3704868"/>
            <a:ext cx="323731" cy="404574"/>
          </a:xfrm>
          <a:prstGeom prst="rect">
            <a:avLst/>
          </a:prstGeom>
          <a:noFill/>
          <a:ln/>
        </p:spPr>
        <p:txBody>
          <a:bodyPr wrap="none" lIns="0" tIns="0" rIns="0" bIns="0" rtlCol="0" anchor="t"/>
          <a:lstStyle/>
          <a:p>
            <a:pPr marL="0" indent="0" algn="ctr">
              <a:lnSpc>
                <a:spcPts val="2500"/>
              </a:lnSpc>
              <a:buNone/>
            </a:pPr>
            <a:r>
              <a:rPr lang="en-US" sz="2500" dirty="0">
                <a:solidFill>
                  <a:srgbClr val="E5E0DF"/>
                </a:solidFill>
                <a:latin typeface="Poppins Light" pitchFamily="34" charset="0"/>
                <a:ea typeface="Poppins Light" pitchFamily="34" charset="-122"/>
                <a:cs typeface="Poppins Light" pitchFamily="34" charset="-120"/>
              </a:rPr>
              <a:t>3</a:t>
            </a:r>
            <a:endParaRPr lang="en-US" sz="2500" dirty="0"/>
          </a:p>
        </p:txBody>
      </p:sp>
      <p:sp>
        <p:nvSpPr>
          <p:cNvPr id="17" name="Text 15"/>
          <p:cNvSpPr/>
          <p:nvPr/>
        </p:nvSpPr>
        <p:spPr>
          <a:xfrm>
            <a:off x="7180540" y="1909643"/>
            <a:ext cx="2944416" cy="337185"/>
          </a:xfrm>
          <a:prstGeom prst="rect">
            <a:avLst/>
          </a:prstGeom>
          <a:noFill/>
          <a:ln/>
        </p:spPr>
        <p:txBody>
          <a:bodyPr wrap="none" lIns="0" tIns="0" rIns="0" bIns="0" rtlCol="0" anchor="t"/>
          <a:lstStyle/>
          <a:p>
            <a:pPr marL="0" indent="0" algn="ctr">
              <a:lnSpc>
                <a:spcPts val="2650"/>
              </a:lnSpc>
              <a:buNone/>
            </a:pPr>
            <a:r>
              <a:rPr lang="en-US" sz="2100" dirty="0">
                <a:solidFill>
                  <a:srgbClr val="E5E0DF"/>
                </a:solidFill>
                <a:latin typeface="Poppins Light" pitchFamily="34" charset="0"/>
                <a:ea typeface="Poppins Light" pitchFamily="34" charset="-122"/>
                <a:cs typeface="Poppins Light" pitchFamily="34" charset="-120"/>
              </a:rPr>
              <a:t>Phase 3: Pilot Program</a:t>
            </a:r>
            <a:endParaRPr lang="en-US" sz="2100" dirty="0"/>
          </a:p>
        </p:txBody>
      </p:sp>
      <p:sp>
        <p:nvSpPr>
          <p:cNvPr id="18" name="Text 16"/>
          <p:cNvSpPr/>
          <p:nvPr/>
        </p:nvSpPr>
        <p:spPr>
          <a:xfrm>
            <a:off x="6321623" y="2369939"/>
            <a:ext cx="4662368" cy="336947"/>
          </a:xfrm>
          <a:prstGeom prst="rect">
            <a:avLst/>
          </a:prstGeom>
          <a:noFill/>
          <a:ln/>
        </p:spPr>
        <p:txBody>
          <a:bodyPr wrap="none" lIns="0" tIns="0" rIns="0" bIns="0" rtlCol="0" anchor="t"/>
          <a:lstStyle/>
          <a:p>
            <a:pPr marL="0" indent="0" algn="ctr">
              <a:lnSpc>
                <a:spcPts val="2650"/>
              </a:lnSpc>
              <a:buNone/>
            </a:pPr>
            <a:r>
              <a:rPr lang="en-US" sz="1650" dirty="0">
                <a:solidFill>
                  <a:srgbClr val="E5E0DF"/>
                </a:solidFill>
                <a:latin typeface="Roboto Light" pitchFamily="34" charset="0"/>
                <a:ea typeface="Roboto Light" pitchFamily="34" charset="-122"/>
                <a:cs typeface="Roboto Light" pitchFamily="34" charset="-120"/>
              </a:rPr>
              <a:t>Deploy in select neighborhoods for validation</a:t>
            </a:r>
            <a:endParaRPr lang="en-US" sz="1650" dirty="0"/>
          </a:p>
        </p:txBody>
      </p:sp>
      <p:sp>
        <p:nvSpPr>
          <p:cNvPr id="19" name="Shape 17"/>
          <p:cNvSpPr/>
          <p:nvPr/>
        </p:nvSpPr>
        <p:spPr>
          <a:xfrm>
            <a:off x="11312723" y="3907155"/>
            <a:ext cx="30480" cy="647462"/>
          </a:xfrm>
          <a:prstGeom prst="roundRect">
            <a:avLst>
              <a:gd name="adj" fmla="val 297412"/>
            </a:avLst>
          </a:prstGeom>
          <a:solidFill>
            <a:srgbClr val="56565B"/>
          </a:solidFill>
          <a:ln/>
        </p:spPr>
      </p:sp>
      <p:sp>
        <p:nvSpPr>
          <p:cNvPr id="20" name="Shape 18"/>
          <p:cNvSpPr/>
          <p:nvPr/>
        </p:nvSpPr>
        <p:spPr>
          <a:xfrm>
            <a:off x="11085195" y="3664387"/>
            <a:ext cx="485537" cy="485537"/>
          </a:xfrm>
          <a:prstGeom prst="roundRect">
            <a:avLst>
              <a:gd name="adj" fmla="val 18670"/>
            </a:avLst>
          </a:prstGeom>
          <a:solidFill>
            <a:srgbClr val="3D3D42"/>
          </a:solidFill>
          <a:ln w="7620">
            <a:solidFill>
              <a:srgbClr val="56565B"/>
            </a:solidFill>
            <a:prstDash val="solid"/>
          </a:ln>
        </p:spPr>
      </p:sp>
      <p:sp>
        <p:nvSpPr>
          <p:cNvPr id="21" name="Text 19"/>
          <p:cNvSpPr/>
          <p:nvPr/>
        </p:nvSpPr>
        <p:spPr>
          <a:xfrm>
            <a:off x="11166098" y="3704868"/>
            <a:ext cx="323731" cy="404574"/>
          </a:xfrm>
          <a:prstGeom prst="rect">
            <a:avLst/>
          </a:prstGeom>
          <a:noFill/>
          <a:ln/>
        </p:spPr>
        <p:txBody>
          <a:bodyPr wrap="none" lIns="0" tIns="0" rIns="0" bIns="0" rtlCol="0" anchor="t"/>
          <a:lstStyle/>
          <a:p>
            <a:pPr marL="0" indent="0" algn="ctr">
              <a:lnSpc>
                <a:spcPts val="2500"/>
              </a:lnSpc>
              <a:buNone/>
            </a:pPr>
            <a:r>
              <a:rPr lang="en-US" sz="2500" dirty="0">
                <a:solidFill>
                  <a:srgbClr val="E5E0DF"/>
                </a:solidFill>
                <a:latin typeface="Poppins Light" pitchFamily="34" charset="0"/>
                <a:ea typeface="Poppins Light" pitchFamily="34" charset="-122"/>
                <a:cs typeface="Poppins Light" pitchFamily="34" charset="-120"/>
              </a:rPr>
              <a:t>4</a:t>
            </a:r>
            <a:endParaRPr lang="en-US" sz="2500" dirty="0"/>
          </a:p>
        </p:txBody>
      </p:sp>
      <p:sp>
        <p:nvSpPr>
          <p:cNvPr id="22" name="Text 20"/>
          <p:cNvSpPr/>
          <p:nvPr/>
        </p:nvSpPr>
        <p:spPr>
          <a:xfrm>
            <a:off x="9596199" y="4770477"/>
            <a:ext cx="3463528" cy="337185"/>
          </a:xfrm>
          <a:prstGeom prst="rect">
            <a:avLst/>
          </a:prstGeom>
          <a:noFill/>
          <a:ln/>
        </p:spPr>
        <p:txBody>
          <a:bodyPr wrap="none" lIns="0" tIns="0" rIns="0" bIns="0" rtlCol="0" anchor="t"/>
          <a:lstStyle/>
          <a:p>
            <a:pPr marL="0" indent="0" algn="ctr">
              <a:lnSpc>
                <a:spcPts val="2650"/>
              </a:lnSpc>
              <a:buNone/>
            </a:pPr>
            <a:r>
              <a:rPr lang="en-US" sz="2100" dirty="0">
                <a:solidFill>
                  <a:srgbClr val="E5E0DF"/>
                </a:solidFill>
                <a:latin typeface="Poppins Light" pitchFamily="34" charset="0"/>
                <a:ea typeface="Poppins Light" pitchFamily="34" charset="-122"/>
                <a:cs typeface="Poppins Light" pitchFamily="34" charset="-120"/>
              </a:rPr>
              <a:t>Phase 4: City-Wide Rollout</a:t>
            </a:r>
            <a:endParaRPr lang="en-US" sz="2100" dirty="0"/>
          </a:p>
        </p:txBody>
      </p:sp>
      <p:sp>
        <p:nvSpPr>
          <p:cNvPr id="23" name="Text 21"/>
          <p:cNvSpPr/>
          <p:nvPr/>
        </p:nvSpPr>
        <p:spPr>
          <a:xfrm>
            <a:off x="8996839" y="5230773"/>
            <a:ext cx="4662368" cy="673894"/>
          </a:xfrm>
          <a:prstGeom prst="rect">
            <a:avLst/>
          </a:prstGeom>
          <a:noFill/>
          <a:ln/>
        </p:spPr>
        <p:txBody>
          <a:bodyPr wrap="square" lIns="0" tIns="0" rIns="0" bIns="0" rtlCol="0" anchor="t"/>
          <a:lstStyle/>
          <a:p>
            <a:pPr marL="0" indent="0" algn="ctr">
              <a:lnSpc>
                <a:spcPts val="2650"/>
              </a:lnSpc>
              <a:buNone/>
            </a:pPr>
            <a:r>
              <a:rPr lang="en-US" sz="1650" dirty="0">
                <a:solidFill>
                  <a:srgbClr val="E5E0DF"/>
                </a:solidFill>
                <a:latin typeface="Roboto Light" pitchFamily="34" charset="0"/>
                <a:ea typeface="Roboto Light" pitchFamily="34" charset="-122"/>
                <a:cs typeface="Roboto Light" pitchFamily="34" charset="-120"/>
              </a:rPr>
              <a:t>Expand to entire metropolitan area with full features</a:t>
            </a:r>
            <a:endParaRPr lang="en-US" sz="1650" dirty="0"/>
          </a:p>
        </p:txBody>
      </p:sp>
      <p:sp>
        <p:nvSpPr>
          <p:cNvPr id="24" name="Text 22"/>
          <p:cNvSpPr/>
          <p:nvPr/>
        </p:nvSpPr>
        <p:spPr>
          <a:xfrm>
            <a:off x="755333" y="6340912"/>
            <a:ext cx="2697837" cy="337185"/>
          </a:xfrm>
          <a:prstGeom prst="rect">
            <a:avLst/>
          </a:prstGeom>
          <a:noFill/>
          <a:ln/>
        </p:spPr>
        <p:txBody>
          <a:bodyPr wrap="none" lIns="0" tIns="0" rIns="0" bIns="0" rtlCol="0" anchor="t"/>
          <a:lstStyle/>
          <a:p>
            <a:pPr marL="0" indent="0" algn="l">
              <a:lnSpc>
                <a:spcPts val="2650"/>
              </a:lnSpc>
              <a:buNone/>
            </a:pPr>
            <a:r>
              <a:rPr lang="en-US" sz="2100" dirty="0">
                <a:solidFill>
                  <a:srgbClr val="F2F2F3"/>
                </a:solidFill>
                <a:latin typeface="Poppins Light" pitchFamily="34" charset="0"/>
                <a:ea typeface="Poppins Light" pitchFamily="34" charset="-122"/>
                <a:cs typeface="Poppins Light" pitchFamily="34" charset="-120"/>
              </a:rPr>
              <a:t>Expected Timeline</a:t>
            </a:r>
            <a:endParaRPr lang="en-US" sz="2100" dirty="0"/>
          </a:p>
        </p:txBody>
      </p:sp>
      <p:sp>
        <p:nvSpPr>
          <p:cNvPr id="25" name="Text 23"/>
          <p:cNvSpPr/>
          <p:nvPr/>
        </p:nvSpPr>
        <p:spPr>
          <a:xfrm>
            <a:off x="755333" y="6883360"/>
            <a:ext cx="6296620" cy="336947"/>
          </a:xfrm>
          <a:prstGeom prst="rect">
            <a:avLst/>
          </a:prstGeom>
          <a:noFill/>
          <a:ln/>
        </p:spPr>
        <p:txBody>
          <a:bodyPr wrap="none" lIns="0" tIns="0" rIns="0" bIns="0" rtlCol="0" anchor="t"/>
          <a:lstStyle/>
          <a:p>
            <a:pPr marL="0" indent="0" algn="l">
              <a:lnSpc>
                <a:spcPts val="2650"/>
              </a:lnSpc>
              <a:buNone/>
            </a:pPr>
            <a:r>
              <a:rPr lang="en-US" sz="1650" dirty="0">
                <a:solidFill>
                  <a:srgbClr val="E5E0DF"/>
                </a:solidFill>
                <a:latin typeface="Roboto Light" pitchFamily="34" charset="0"/>
                <a:ea typeface="Roboto Light" pitchFamily="34" charset="-122"/>
                <a:cs typeface="Roboto Light" pitchFamily="34" charset="-120"/>
              </a:rPr>
              <a:t>6-9 months from initial deployment to full operational capability</a:t>
            </a:r>
            <a:endParaRPr lang="en-US" sz="1650" dirty="0"/>
          </a:p>
        </p:txBody>
      </p:sp>
      <p:sp>
        <p:nvSpPr>
          <p:cNvPr id="26" name="Text 24"/>
          <p:cNvSpPr/>
          <p:nvPr/>
        </p:nvSpPr>
        <p:spPr>
          <a:xfrm>
            <a:off x="7586067" y="6340912"/>
            <a:ext cx="2697837" cy="337185"/>
          </a:xfrm>
          <a:prstGeom prst="rect">
            <a:avLst/>
          </a:prstGeom>
          <a:noFill/>
          <a:ln/>
        </p:spPr>
        <p:txBody>
          <a:bodyPr wrap="none" lIns="0" tIns="0" rIns="0" bIns="0" rtlCol="0" anchor="t"/>
          <a:lstStyle/>
          <a:p>
            <a:pPr marL="0" indent="0" algn="l">
              <a:lnSpc>
                <a:spcPts val="2650"/>
              </a:lnSpc>
              <a:buNone/>
            </a:pPr>
            <a:r>
              <a:rPr lang="en-US" sz="2100" dirty="0">
                <a:solidFill>
                  <a:srgbClr val="F2F2F3"/>
                </a:solidFill>
                <a:latin typeface="Poppins Light" pitchFamily="34" charset="0"/>
                <a:ea typeface="Poppins Light" pitchFamily="34" charset="-122"/>
                <a:cs typeface="Poppins Light" pitchFamily="34" charset="-120"/>
              </a:rPr>
              <a:t>Key Milestones</a:t>
            </a:r>
            <a:endParaRPr lang="en-US" sz="2100" dirty="0"/>
          </a:p>
        </p:txBody>
      </p:sp>
      <p:sp>
        <p:nvSpPr>
          <p:cNvPr id="27" name="Text 25"/>
          <p:cNvSpPr/>
          <p:nvPr/>
        </p:nvSpPr>
        <p:spPr>
          <a:xfrm>
            <a:off x="7586067" y="6883360"/>
            <a:ext cx="6296620" cy="336947"/>
          </a:xfrm>
          <a:prstGeom prst="rect">
            <a:avLst/>
          </a:prstGeom>
          <a:noFill/>
          <a:ln/>
        </p:spPr>
        <p:txBody>
          <a:bodyPr wrap="none" lIns="0" tIns="0" rIns="0" bIns="0" rtlCol="0" anchor="t"/>
          <a:lstStyle/>
          <a:p>
            <a:pPr marL="0" indent="0" algn="l">
              <a:lnSpc>
                <a:spcPts val="2650"/>
              </a:lnSpc>
              <a:buNone/>
            </a:pPr>
            <a:r>
              <a:rPr lang="en-US" sz="1650" dirty="0">
                <a:solidFill>
                  <a:srgbClr val="E5E0DF"/>
                </a:solidFill>
                <a:latin typeface="Roboto Light" pitchFamily="34" charset="0"/>
                <a:ea typeface="Roboto Light" pitchFamily="34" charset="-122"/>
                <a:cs typeface="Roboto Light" pitchFamily="34" charset="-120"/>
              </a:rPr>
              <a:t>Quarterly reviews with law enforcement stakeholders</a:t>
            </a:r>
            <a:endParaRPr lang="en-US" sz="1650" dirty="0"/>
          </a:p>
        </p:txBody>
      </p:sp>
      <p:sp>
        <p:nvSpPr>
          <p:cNvPr id="28" name="Rectangle 27">
            <a:extLst>
              <a:ext uri="{FF2B5EF4-FFF2-40B4-BE49-F238E27FC236}">
                <a16:creationId xmlns:a16="http://schemas.microsoft.com/office/drawing/2014/main" id="{C7C29F6A-8EC1-9D21-6B87-7B999D38B8CC}"/>
              </a:ext>
            </a:extLst>
          </p:cNvPr>
          <p:cNvSpPr/>
          <p:nvPr/>
        </p:nvSpPr>
        <p:spPr>
          <a:xfrm>
            <a:off x="12708081" y="7512627"/>
            <a:ext cx="1839191" cy="613064"/>
          </a:xfrm>
          <a:prstGeom prst="rect">
            <a:avLst/>
          </a:prstGeom>
          <a:solidFill>
            <a:srgbClr val="050505"/>
          </a:solidFill>
          <a:ln>
            <a:solidFill>
              <a:srgbClr val="0505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14E138F1-B9AB-AE97-2FFF-C134B9D22968}"/>
              </a:ext>
            </a:extLst>
          </p:cNvPr>
          <p:cNvPicPr>
            <a:picLocks noChangeAspect="1"/>
          </p:cNvPicPr>
          <p:nvPr/>
        </p:nvPicPr>
        <p:blipFill>
          <a:blip r:embed="rId3"/>
          <a:stretch>
            <a:fillRect/>
          </a:stretch>
        </p:blipFill>
        <p:spPr>
          <a:xfrm>
            <a:off x="12804938" y="103909"/>
            <a:ext cx="1577395" cy="15690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28174" y="2163366"/>
            <a:ext cx="4018002" cy="357188"/>
          </a:xfrm>
          <a:prstGeom prst="rect">
            <a:avLst/>
          </a:prstGeom>
          <a:noFill/>
          <a:ln/>
        </p:spPr>
        <p:txBody>
          <a:bodyPr wrap="none" lIns="0" tIns="0" rIns="0" bIns="0" rtlCol="0" anchor="t"/>
          <a:lstStyle/>
          <a:p>
            <a:pPr marL="0" indent="0" algn="l">
              <a:lnSpc>
                <a:spcPts val="2800"/>
              </a:lnSpc>
              <a:buNone/>
            </a:pPr>
            <a:r>
              <a:rPr lang="en-US" sz="2250" dirty="0">
                <a:solidFill>
                  <a:srgbClr val="F2F2F3"/>
                </a:solidFill>
                <a:latin typeface="Poppins Light" pitchFamily="34" charset="0"/>
                <a:ea typeface="Poppins Light" pitchFamily="34" charset="-122"/>
                <a:cs typeface="Poppins Light" pitchFamily="34" charset="-120"/>
              </a:rPr>
              <a:t>Making Safer Cities Together</a:t>
            </a:r>
            <a:endParaRPr lang="en-US" sz="2250" dirty="0"/>
          </a:p>
        </p:txBody>
      </p:sp>
      <p:sp>
        <p:nvSpPr>
          <p:cNvPr id="4" name="Text 1"/>
          <p:cNvSpPr/>
          <p:nvPr/>
        </p:nvSpPr>
        <p:spPr>
          <a:xfrm>
            <a:off x="628174" y="2606873"/>
            <a:ext cx="7887533" cy="985837"/>
          </a:xfrm>
          <a:prstGeom prst="rect">
            <a:avLst/>
          </a:prstGeom>
          <a:noFill/>
          <a:ln/>
        </p:spPr>
        <p:txBody>
          <a:bodyPr wrap="square" lIns="0" tIns="0" rIns="0" bIns="0" rtlCol="0" anchor="t"/>
          <a:lstStyle/>
          <a:p>
            <a:pPr marL="0" indent="0" algn="l">
              <a:lnSpc>
                <a:spcPts val="3850"/>
              </a:lnSpc>
              <a:buNone/>
            </a:pPr>
            <a:r>
              <a:rPr lang="en-US" sz="3100" dirty="0">
                <a:solidFill>
                  <a:srgbClr val="F2F2F3"/>
                </a:solidFill>
                <a:latin typeface="Poppins Light" pitchFamily="34" charset="0"/>
                <a:ea typeface="Poppins Light" pitchFamily="34" charset="-122"/>
                <a:cs typeface="Poppins Light" pitchFamily="34" charset="-120"/>
              </a:rPr>
              <a:t>A prime example of modern technology creating safer urban environments</a:t>
            </a:r>
            <a:endParaRPr lang="en-US" sz="3100" dirty="0"/>
          </a:p>
        </p:txBody>
      </p:sp>
      <p:sp>
        <p:nvSpPr>
          <p:cNvPr id="5" name="Text 2"/>
          <p:cNvSpPr/>
          <p:nvPr/>
        </p:nvSpPr>
        <p:spPr>
          <a:xfrm>
            <a:off x="628174" y="3679031"/>
            <a:ext cx="7887533" cy="275034"/>
          </a:xfrm>
          <a:prstGeom prst="rect">
            <a:avLst/>
          </a:prstGeom>
          <a:noFill/>
          <a:ln/>
        </p:spPr>
        <p:txBody>
          <a:bodyPr wrap="square" lIns="0" tIns="0" rIns="0" bIns="0" rtlCol="0" anchor="t"/>
          <a:lstStyle/>
          <a:p>
            <a:pPr marL="0" indent="0" algn="l">
              <a:lnSpc>
                <a:spcPts val="1050"/>
              </a:lnSpc>
              <a:buNone/>
            </a:pPr>
            <a:r>
              <a:rPr lang="en-US" sz="900" dirty="0">
                <a:solidFill>
                  <a:srgbClr val="E5E0DF"/>
                </a:solidFill>
                <a:latin typeface="Roboto Light" pitchFamily="34" charset="0"/>
                <a:ea typeface="Roboto Light" pitchFamily="34" charset="-122"/>
                <a:cs typeface="Roboto Light" pitchFamily="34" charset="-120"/>
              </a:rPr>
              <a:t>This AI-powered system demonstrates how intelligent technology can transform public safety from reactive response to proactive prevention. By combining machine learning, data analytics, and interactive visualization, cities can protect their citizens more effectively while optimizing law enforcement resources.</a:t>
            </a:r>
            <a:endParaRPr lang="en-US" sz="900" dirty="0"/>
          </a:p>
        </p:txBody>
      </p:sp>
      <p:sp>
        <p:nvSpPr>
          <p:cNvPr id="6" name="Shape 3"/>
          <p:cNvSpPr/>
          <p:nvPr/>
        </p:nvSpPr>
        <p:spPr>
          <a:xfrm>
            <a:off x="628174" y="4018836"/>
            <a:ext cx="3915013" cy="994886"/>
          </a:xfrm>
          <a:prstGeom prst="roundRect">
            <a:avLst>
              <a:gd name="adj" fmla="val 4826"/>
            </a:avLst>
          </a:prstGeom>
          <a:solidFill>
            <a:srgbClr val="3D3D42"/>
          </a:solidFill>
          <a:ln w="7620">
            <a:solidFill>
              <a:srgbClr val="56565B"/>
            </a:solidFill>
            <a:prstDash val="solid"/>
          </a:ln>
        </p:spPr>
      </p:sp>
      <p:sp>
        <p:nvSpPr>
          <p:cNvPr id="7" name="Shape 4"/>
          <p:cNvSpPr/>
          <p:nvPr/>
        </p:nvSpPr>
        <p:spPr>
          <a:xfrm>
            <a:off x="750094" y="4140756"/>
            <a:ext cx="342900" cy="342900"/>
          </a:xfrm>
          <a:prstGeom prst="roundRect">
            <a:avLst>
              <a:gd name="adj" fmla="val 26664000"/>
            </a:avLst>
          </a:prstGeom>
          <a:solidFill>
            <a:srgbClr val="F2F2F3"/>
          </a:solidFill>
          <a:ln/>
        </p:spPr>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4391" y="4235053"/>
            <a:ext cx="154305" cy="154305"/>
          </a:xfrm>
          <a:prstGeom prst="rect">
            <a:avLst/>
          </a:prstGeom>
        </p:spPr>
      </p:pic>
      <p:sp>
        <p:nvSpPr>
          <p:cNvPr id="9" name="Text 5"/>
          <p:cNvSpPr/>
          <p:nvPr/>
        </p:nvSpPr>
        <p:spPr>
          <a:xfrm>
            <a:off x="750094" y="4541163"/>
            <a:ext cx="1428869" cy="178594"/>
          </a:xfrm>
          <a:prstGeom prst="rect">
            <a:avLst/>
          </a:prstGeom>
          <a:noFill/>
          <a:ln/>
        </p:spPr>
        <p:txBody>
          <a:bodyPr wrap="none" lIns="0" tIns="0" rIns="0" bIns="0" rtlCol="0" anchor="t"/>
          <a:lstStyle/>
          <a:p>
            <a:pPr marL="0" indent="0" algn="l">
              <a:lnSpc>
                <a:spcPts val="1400"/>
              </a:lnSpc>
              <a:buNone/>
            </a:pPr>
            <a:r>
              <a:rPr lang="en-US" sz="1100" dirty="0">
                <a:solidFill>
                  <a:srgbClr val="E5E0DF"/>
                </a:solidFill>
                <a:latin typeface="Poppins Light" pitchFamily="34" charset="0"/>
                <a:ea typeface="Poppins Light" pitchFamily="34" charset="-122"/>
                <a:cs typeface="Poppins Light" pitchFamily="34" charset="-120"/>
              </a:rPr>
              <a:t>City Partnerships</a:t>
            </a:r>
            <a:endParaRPr lang="en-US" sz="1100" dirty="0"/>
          </a:p>
        </p:txBody>
      </p:sp>
      <p:sp>
        <p:nvSpPr>
          <p:cNvPr id="10" name="Text 6"/>
          <p:cNvSpPr/>
          <p:nvPr/>
        </p:nvSpPr>
        <p:spPr>
          <a:xfrm>
            <a:off x="750094" y="4754285"/>
            <a:ext cx="3671173" cy="137517"/>
          </a:xfrm>
          <a:prstGeom prst="rect">
            <a:avLst/>
          </a:prstGeom>
          <a:noFill/>
          <a:ln/>
        </p:spPr>
        <p:txBody>
          <a:bodyPr wrap="none" lIns="0" tIns="0" rIns="0" bIns="0" rtlCol="0" anchor="t"/>
          <a:lstStyle/>
          <a:p>
            <a:pPr marL="0" indent="0" algn="l">
              <a:lnSpc>
                <a:spcPts val="1050"/>
              </a:lnSpc>
              <a:buNone/>
            </a:pPr>
            <a:r>
              <a:rPr lang="en-US" sz="900" dirty="0">
                <a:solidFill>
                  <a:srgbClr val="E5E0DF"/>
                </a:solidFill>
                <a:latin typeface="Roboto Light" pitchFamily="34" charset="0"/>
                <a:ea typeface="Roboto Light" pitchFamily="34" charset="-122"/>
                <a:cs typeface="Roboto Light" pitchFamily="34" charset="-120"/>
              </a:rPr>
              <a:t>Collaborate with municipal governments</a:t>
            </a:r>
            <a:endParaRPr lang="en-US" sz="900" dirty="0"/>
          </a:p>
        </p:txBody>
      </p:sp>
      <p:sp>
        <p:nvSpPr>
          <p:cNvPr id="11" name="Shape 7"/>
          <p:cNvSpPr/>
          <p:nvPr/>
        </p:nvSpPr>
        <p:spPr>
          <a:xfrm>
            <a:off x="4600694" y="4018836"/>
            <a:ext cx="3915013" cy="994886"/>
          </a:xfrm>
          <a:prstGeom prst="roundRect">
            <a:avLst>
              <a:gd name="adj" fmla="val 4826"/>
            </a:avLst>
          </a:prstGeom>
          <a:solidFill>
            <a:srgbClr val="3D3D42"/>
          </a:solidFill>
          <a:ln w="7620">
            <a:solidFill>
              <a:srgbClr val="56565B"/>
            </a:solidFill>
            <a:prstDash val="solid"/>
          </a:ln>
        </p:spPr>
      </p:sp>
      <p:sp>
        <p:nvSpPr>
          <p:cNvPr id="12" name="Shape 8"/>
          <p:cNvSpPr/>
          <p:nvPr/>
        </p:nvSpPr>
        <p:spPr>
          <a:xfrm>
            <a:off x="4722614" y="4140756"/>
            <a:ext cx="342900" cy="342900"/>
          </a:xfrm>
          <a:prstGeom prst="roundRect">
            <a:avLst>
              <a:gd name="adj" fmla="val 26664000"/>
            </a:avLst>
          </a:prstGeom>
          <a:solidFill>
            <a:srgbClr val="F2F2F3"/>
          </a:solidFill>
          <a:ln/>
        </p:spPr>
      </p:sp>
      <p:pic>
        <p:nvPicPr>
          <p:cNvPr id="13"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16912" y="4235053"/>
            <a:ext cx="154305" cy="154305"/>
          </a:xfrm>
          <a:prstGeom prst="rect">
            <a:avLst/>
          </a:prstGeom>
        </p:spPr>
      </p:pic>
      <p:sp>
        <p:nvSpPr>
          <p:cNvPr id="14" name="Text 9"/>
          <p:cNvSpPr/>
          <p:nvPr/>
        </p:nvSpPr>
        <p:spPr>
          <a:xfrm>
            <a:off x="4722614" y="4541163"/>
            <a:ext cx="1428869" cy="178594"/>
          </a:xfrm>
          <a:prstGeom prst="rect">
            <a:avLst/>
          </a:prstGeom>
          <a:noFill/>
          <a:ln/>
        </p:spPr>
        <p:txBody>
          <a:bodyPr wrap="none" lIns="0" tIns="0" rIns="0" bIns="0" rtlCol="0" anchor="t"/>
          <a:lstStyle/>
          <a:p>
            <a:pPr marL="0" indent="0" algn="l">
              <a:lnSpc>
                <a:spcPts val="1400"/>
              </a:lnSpc>
              <a:buNone/>
            </a:pPr>
            <a:r>
              <a:rPr lang="en-US" sz="1100" dirty="0">
                <a:solidFill>
                  <a:srgbClr val="E5E0DF"/>
                </a:solidFill>
                <a:latin typeface="Poppins Light" pitchFamily="34" charset="0"/>
                <a:ea typeface="Poppins Light" pitchFamily="34" charset="-122"/>
                <a:cs typeface="Poppins Light" pitchFamily="34" charset="-120"/>
              </a:rPr>
              <a:t>Law Enforcement</a:t>
            </a:r>
            <a:endParaRPr lang="en-US" sz="1100" dirty="0"/>
          </a:p>
        </p:txBody>
      </p:sp>
      <p:sp>
        <p:nvSpPr>
          <p:cNvPr id="15" name="Text 10"/>
          <p:cNvSpPr/>
          <p:nvPr/>
        </p:nvSpPr>
        <p:spPr>
          <a:xfrm>
            <a:off x="4722614" y="4754285"/>
            <a:ext cx="3671173" cy="137517"/>
          </a:xfrm>
          <a:prstGeom prst="rect">
            <a:avLst/>
          </a:prstGeom>
          <a:noFill/>
          <a:ln/>
        </p:spPr>
        <p:txBody>
          <a:bodyPr wrap="none" lIns="0" tIns="0" rIns="0" bIns="0" rtlCol="0" anchor="t"/>
          <a:lstStyle/>
          <a:p>
            <a:pPr marL="0" indent="0" algn="l">
              <a:lnSpc>
                <a:spcPts val="1050"/>
              </a:lnSpc>
              <a:buNone/>
            </a:pPr>
            <a:r>
              <a:rPr lang="en-US" sz="900" dirty="0">
                <a:solidFill>
                  <a:srgbClr val="E5E0DF"/>
                </a:solidFill>
                <a:latin typeface="Roboto Light" pitchFamily="34" charset="0"/>
                <a:ea typeface="Roboto Light" pitchFamily="34" charset="-122"/>
                <a:cs typeface="Roboto Light" pitchFamily="34" charset="-120"/>
              </a:rPr>
              <a:t>Integrate with police departments</a:t>
            </a:r>
            <a:endParaRPr lang="en-US" sz="900" dirty="0"/>
          </a:p>
        </p:txBody>
      </p:sp>
      <p:sp>
        <p:nvSpPr>
          <p:cNvPr id="16" name="Shape 11"/>
          <p:cNvSpPr/>
          <p:nvPr/>
        </p:nvSpPr>
        <p:spPr>
          <a:xfrm>
            <a:off x="628174" y="5071229"/>
            <a:ext cx="7887533" cy="994886"/>
          </a:xfrm>
          <a:prstGeom prst="roundRect">
            <a:avLst>
              <a:gd name="adj" fmla="val 4826"/>
            </a:avLst>
          </a:prstGeom>
          <a:solidFill>
            <a:srgbClr val="3D3D42"/>
          </a:solidFill>
          <a:ln w="7620">
            <a:solidFill>
              <a:srgbClr val="56565B"/>
            </a:solidFill>
            <a:prstDash val="solid"/>
          </a:ln>
        </p:spPr>
      </p:sp>
      <p:sp>
        <p:nvSpPr>
          <p:cNvPr id="17" name="Shape 12"/>
          <p:cNvSpPr/>
          <p:nvPr/>
        </p:nvSpPr>
        <p:spPr>
          <a:xfrm>
            <a:off x="750094" y="5193149"/>
            <a:ext cx="342900" cy="342900"/>
          </a:xfrm>
          <a:prstGeom prst="roundRect">
            <a:avLst>
              <a:gd name="adj" fmla="val 26664000"/>
            </a:avLst>
          </a:prstGeom>
          <a:solidFill>
            <a:srgbClr val="F2F2F3"/>
          </a:solidFill>
          <a:ln/>
        </p:spPr>
      </p:sp>
      <p:pic>
        <p:nvPicPr>
          <p:cNvPr id="1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4391" y="5287447"/>
            <a:ext cx="154305" cy="154305"/>
          </a:xfrm>
          <a:prstGeom prst="rect">
            <a:avLst/>
          </a:prstGeom>
        </p:spPr>
      </p:pic>
      <p:sp>
        <p:nvSpPr>
          <p:cNvPr id="19" name="Text 13"/>
          <p:cNvSpPr/>
          <p:nvPr/>
        </p:nvSpPr>
        <p:spPr>
          <a:xfrm>
            <a:off x="750094" y="5593556"/>
            <a:ext cx="1428869" cy="178594"/>
          </a:xfrm>
          <a:prstGeom prst="rect">
            <a:avLst/>
          </a:prstGeom>
          <a:noFill/>
          <a:ln/>
        </p:spPr>
        <p:txBody>
          <a:bodyPr wrap="none" lIns="0" tIns="0" rIns="0" bIns="0" rtlCol="0" anchor="t"/>
          <a:lstStyle/>
          <a:p>
            <a:pPr marL="0" indent="0" algn="l">
              <a:lnSpc>
                <a:spcPts val="1400"/>
              </a:lnSpc>
              <a:buNone/>
            </a:pPr>
            <a:r>
              <a:rPr lang="en-US" sz="1100" dirty="0">
                <a:solidFill>
                  <a:srgbClr val="E5E0DF"/>
                </a:solidFill>
                <a:latin typeface="Poppins Light" pitchFamily="34" charset="0"/>
                <a:ea typeface="Poppins Light" pitchFamily="34" charset="-122"/>
                <a:cs typeface="Poppins Light" pitchFamily="34" charset="-120"/>
              </a:rPr>
              <a:t>Public Engagement</a:t>
            </a:r>
            <a:endParaRPr lang="en-US" sz="1100" dirty="0"/>
          </a:p>
        </p:txBody>
      </p:sp>
      <p:sp>
        <p:nvSpPr>
          <p:cNvPr id="20" name="Text 14"/>
          <p:cNvSpPr/>
          <p:nvPr/>
        </p:nvSpPr>
        <p:spPr>
          <a:xfrm>
            <a:off x="750094" y="5806678"/>
            <a:ext cx="7643693" cy="137517"/>
          </a:xfrm>
          <a:prstGeom prst="rect">
            <a:avLst/>
          </a:prstGeom>
          <a:noFill/>
          <a:ln/>
        </p:spPr>
        <p:txBody>
          <a:bodyPr wrap="none" lIns="0" tIns="0" rIns="0" bIns="0" rtlCol="0" anchor="t"/>
          <a:lstStyle/>
          <a:p>
            <a:pPr marL="0" indent="0" algn="l">
              <a:lnSpc>
                <a:spcPts val="1050"/>
              </a:lnSpc>
              <a:buNone/>
            </a:pPr>
            <a:r>
              <a:rPr lang="en-US" sz="900" dirty="0">
                <a:solidFill>
                  <a:srgbClr val="E5E0DF"/>
                </a:solidFill>
                <a:latin typeface="Roboto Light" pitchFamily="34" charset="0"/>
                <a:ea typeface="Roboto Light" pitchFamily="34" charset="-122"/>
                <a:cs typeface="Roboto Light" pitchFamily="34" charset="-120"/>
              </a:rPr>
              <a:t>Empower citizens with safety tools</a:t>
            </a:r>
            <a:endParaRPr lang="en-US" sz="900" dirty="0"/>
          </a:p>
        </p:txBody>
      </p:sp>
      <p:pic>
        <p:nvPicPr>
          <p:cNvPr id="21" name="Picture 20">
            <a:extLst>
              <a:ext uri="{FF2B5EF4-FFF2-40B4-BE49-F238E27FC236}">
                <a16:creationId xmlns:a16="http://schemas.microsoft.com/office/drawing/2014/main" id="{CDAF4911-A123-3ADA-AE57-5D8096FE3EBF}"/>
              </a:ext>
            </a:extLst>
          </p:cNvPr>
          <p:cNvPicPr>
            <a:picLocks noChangeAspect="1"/>
          </p:cNvPicPr>
          <p:nvPr/>
        </p:nvPicPr>
        <p:blipFill>
          <a:blip r:embed="rId10"/>
          <a:stretch>
            <a:fillRect/>
          </a:stretch>
        </p:blipFill>
        <p:spPr>
          <a:xfrm>
            <a:off x="12804938" y="103909"/>
            <a:ext cx="1577395" cy="15690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51A0E-EA5A-069F-A34B-E2BA52B26448}"/>
            </a:ext>
          </a:extLst>
        </p:cNvPr>
        <p:cNvGrpSpPr/>
        <p:nvPr/>
      </p:nvGrpSpPr>
      <p:grpSpPr>
        <a:xfrm>
          <a:off x="0" y="0"/>
          <a:ext cx="0" cy="0"/>
          <a:chOff x="0" y="0"/>
          <a:chExt cx="0" cy="0"/>
        </a:xfrm>
      </p:grpSpPr>
      <p:pic>
        <p:nvPicPr>
          <p:cNvPr id="8" name="Image 1" descr="preencoded.png">
            <a:extLst>
              <a:ext uri="{FF2B5EF4-FFF2-40B4-BE49-F238E27FC236}">
                <a16:creationId xmlns:a16="http://schemas.microsoft.com/office/drawing/2014/main" id="{3FC8F375-DF39-DF7B-BB20-B12F2F02BF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4391" y="4235053"/>
            <a:ext cx="154305" cy="154305"/>
          </a:xfrm>
          <a:prstGeom prst="rect">
            <a:avLst/>
          </a:prstGeom>
        </p:spPr>
      </p:pic>
      <p:sp>
        <p:nvSpPr>
          <p:cNvPr id="21" name="TextBox 20">
            <a:extLst>
              <a:ext uri="{FF2B5EF4-FFF2-40B4-BE49-F238E27FC236}">
                <a16:creationId xmlns:a16="http://schemas.microsoft.com/office/drawing/2014/main" id="{9009D3DE-0057-C9AF-D82E-7E1B59ED8E73}"/>
              </a:ext>
            </a:extLst>
          </p:cNvPr>
          <p:cNvSpPr txBox="1"/>
          <p:nvPr/>
        </p:nvSpPr>
        <p:spPr>
          <a:xfrm>
            <a:off x="2909454" y="1594054"/>
            <a:ext cx="8811492" cy="4708981"/>
          </a:xfrm>
          <a:prstGeom prst="rect">
            <a:avLst/>
          </a:prstGeom>
          <a:noFill/>
        </p:spPr>
        <p:txBody>
          <a:bodyPr wrap="square" rtlCol="0">
            <a:spAutoFit/>
          </a:bodyPr>
          <a:lstStyle/>
          <a:p>
            <a:pPr algn="ctr"/>
            <a:r>
              <a:rPr lang="en-IN" sz="15000" dirty="0">
                <a:solidFill>
                  <a:schemeClr val="bg1"/>
                </a:solidFill>
              </a:rPr>
              <a:t>THANK YOU</a:t>
            </a:r>
            <a:endParaRPr lang="en-US" sz="15000" dirty="0">
              <a:solidFill>
                <a:schemeClr val="bg1"/>
              </a:solidFill>
            </a:endParaRPr>
          </a:p>
        </p:txBody>
      </p:sp>
      <p:pic>
        <p:nvPicPr>
          <p:cNvPr id="22" name="Picture 21">
            <a:extLst>
              <a:ext uri="{FF2B5EF4-FFF2-40B4-BE49-F238E27FC236}">
                <a16:creationId xmlns:a16="http://schemas.microsoft.com/office/drawing/2014/main" id="{C47F8180-CFB0-244A-70CC-D43922D28786}"/>
              </a:ext>
            </a:extLst>
          </p:cNvPr>
          <p:cNvPicPr>
            <a:picLocks noChangeAspect="1"/>
          </p:cNvPicPr>
          <p:nvPr/>
        </p:nvPicPr>
        <p:blipFill>
          <a:blip r:embed="rId5"/>
          <a:stretch>
            <a:fillRect/>
          </a:stretch>
        </p:blipFill>
        <p:spPr>
          <a:xfrm>
            <a:off x="12804938" y="103909"/>
            <a:ext cx="1577395" cy="1569027"/>
          </a:xfrm>
          <a:prstGeom prst="rect">
            <a:avLst/>
          </a:prstGeom>
        </p:spPr>
      </p:pic>
      <p:sp>
        <p:nvSpPr>
          <p:cNvPr id="23" name="Rectangle 22">
            <a:extLst>
              <a:ext uri="{FF2B5EF4-FFF2-40B4-BE49-F238E27FC236}">
                <a16:creationId xmlns:a16="http://schemas.microsoft.com/office/drawing/2014/main" id="{A09A667D-DEA8-E2D5-EAB2-A44907FD257B}"/>
              </a:ext>
            </a:extLst>
          </p:cNvPr>
          <p:cNvSpPr/>
          <p:nvPr/>
        </p:nvSpPr>
        <p:spPr>
          <a:xfrm>
            <a:off x="12708081" y="7512627"/>
            <a:ext cx="1839191" cy="613064"/>
          </a:xfrm>
          <a:prstGeom prst="rect">
            <a:avLst/>
          </a:prstGeom>
          <a:solidFill>
            <a:srgbClr val="050505"/>
          </a:solidFill>
          <a:ln>
            <a:solidFill>
              <a:srgbClr val="0505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2843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TotalTime>
  <Words>637</Words>
  <Application>Microsoft Office PowerPoint</Application>
  <PresentationFormat>Custom</PresentationFormat>
  <Paragraphs>106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Poppins Light</vt:lpstr>
      <vt:lpstr>Arial</vt:lpstr>
      <vt:lpstr>Roboto Light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Addithya S</dc:creator>
  <cp:lastModifiedBy>B. Indira Priyadarshini</cp:lastModifiedBy>
  <cp:revision>5</cp:revision>
  <dcterms:created xsi:type="dcterms:W3CDTF">2026-03-12T07:58:54Z</dcterms:created>
  <dcterms:modified xsi:type="dcterms:W3CDTF">2026-07-03T07:50:00Z</dcterms:modified>
</cp:coreProperties>
</file>